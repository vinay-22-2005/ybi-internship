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56"/>
  </p:notesMasterIdLst>
  <p:sldIdLst>
    <p:sldId id="256" r:id="rId2"/>
    <p:sldId id="257" r:id="rId3"/>
    <p:sldId id="259" r:id="rId4"/>
    <p:sldId id="260" r:id="rId5"/>
    <p:sldId id="278" r:id="rId6"/>
    <p:sldId id="261" r:id="rId7"/>
    <p:sldId id="280" r:id="rId8"/>
    <p:sldId id="283" r:id="rId9"/>
    <p:sldId id="284" r:id="rId10"/>
    <p:sldId id="285" r:id="rId11"/>
    <p:sldId id="286" r:id="rId12"/>
    <p:sldId id="287" r:id="rId13"/>
    <p:sldId id="288" r:id="rId14"/>
    <p:sldId id="289" r:id="rId15"/>
    <p:sldId id="290" r:id="rId16"/>
    <p:sldId id="291" r:id="rId17"/>
    <p:sldId id="293" r:id="rId18"/>
    <p:sldId id="292" r:id="rId19"/>
    <p:sldId id="295" r:id="rId20"/>
    <p:sldId id="267" r:id="rId21"/>
    <p:sldId id="296" r:id="rId22"/>
    <p:sldId id="268" r:id="rId23"/>
    <p:sldId id="297" r:id="rId24"/>
    <p:sldId id="271" r:id="rId25"/>
    <p:sldId id="294" r:id="rId26"/>
    <p:sldId id="298" r:id="rId27"/>
    <p:sldId id="272" r:id="rId28"/>
    <p:sldId id="299" r:id="rId29"/>
    <p:sldId id="300" r:id="rId30"/>
    <p:sldId id="303" r:id="rId31"/>
    <p:sldId id="308" r:id="rId32"/>
    <p:sldId id="304" r:id="rId33"/>
    <p:sldId id="305" r:id="rId34"/>
    <p:sldId id="309" r:id="rId35"/>
    <p:sldId id="306" r:id="rId36"/>
    <p:sldId id="330" r:id="rId37"/>
    <p:sldId id="310" r:id="rId38"/>
    <p:sldId id="311" r:id="rId39"/>
    <p:sldId id="307" r:id="rId40"/>
    <p:sldId id="301" r:id="rId41"/>
    <p:sldId id="312" r:id="rId42"/>
    <p:sldId id="322" r:id="rId43"/>
    <p:sldId id="326" r:id="rId44"/>
    <p:sldId id="327" r:id="rId45"/>
    <p:sldId id="328" r:id="rId46"/>
    <p:sldId id="329" r:id="rId47"/>
    <p:sldId id="314" r:id="rId48"/>
    <p:sldId id="315" r:id="rId49"/>
    <p:sldId id="316" r:id="rId50"/>
    <p:sldId id="317" r:id="rId51"/>
    <p:sldId id="318" r:id="rId52"/>
    <p:sldId id="319" r:id="rId53"/>
    <p:sldId id="320" r:id="rId54"/>
    <p:sldId id="321" r:id="rId55"/>
  </p:sldIdLst>
  <p:sldSz cx="9144000" cy="5143500" type="screen16x9"/>
  <p:notesSz cx="6858000" cy="9144000"/>
  <p:embeddedFontLst>
    <p:embeddedFont>
      <p:font typeface="Abel" panose="02000506030000020004" pitchFamily="2" charset="0"/>
      <p:regular r:id="rId57"/>
    </p:embeddedFont>
    <p:embeddedFont>
      <p:font typeface="Algerian" panose="04020705040A02060702" pitchFamily="82" charset="0"/>
      <p:regular r:id="rId58"/>
    </p:embeddedFont>
    <p:embeddedFont>
      <p:font typeface="Comfortaa" panose="020B0604020202020204" charset="0"/>
      <p:regular r:id="rId59"/>
      <p:bold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4037325C-3CAF-42CE-AFE7-05B050F18D9F}">
          <p14:sldIdLst>
            <p14:sldId id="256"/>
            <p14:sldId id="257"/>
            <p14:sldId id="259"/>
            <p14:sldId id="260"/>
            <p14:sldId id="278"/>
            <p14:sldId id="261"/>
            <p14:sldId id="280"/>
            <p14:sldId id="283"/>
            <p14:sldId id="284"/>
            <p14:sldId id="285"/>
            <p14:sldId id="286"/>
            <p14:sldId id="287"/>
            <p14:sldId id="288"/>
            <p14:sldId id="289"/>
            <p14:sldId id="290"/>
            <p14:sldId id="291"/>
            <p14:sldId id="293"/>
            <p14:sldId id="292"/>
            <p14:sldId id="295"/>
            <p14:sldId id="267"/>
            <p14:sldId id="296"/>
            <p14:sldId id="268"/>
            <p14:sldId id="297"/>
            <p14:sldId id="271"/>
            <p14:sldId id="294"/>
            <p14:sldId id="298"/>
            <p14:sldId id="272"/>
            <p14:sldId id="299"/>
            <p14:sldId id="300"/>
            <p14:sldId id="303"/>
            <p14:sldId id="308"/>
            <p14:sldId id="304"/>
            <p14:sldId id="305"/>
            <p14:sldId id="309"/>
            <p14:sldId id="306"/>
            <p14:sldId id="330"/>
            <p14:sldId id="310"/>
            <p14:sldId id="311"/>
            <p14:sldId id="307"/>
            <p14:sldId id="301"/>
            <p14:sldId id="312"/>
            <p14:sldId id="322"/>
            <p14:sldId id="326"/>
            <p14:sldId id="327"/>
            <p14:sldId id="328"/>
            <p14:sldId id="329"/>
            <p14:sldId id="314"/>
            <p14:sldId id="315"/>
            <p14:sldId id="316"/>
            <p14:sldId id="317"/>
            <p14:sldId id="318"/>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13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62067C-DA03-43EB-8B90-66515EE41048}">
  <a:tblStyle styleId="{F662067C-DA03-43EB-8B90-66515EE4104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AB40216-74A1-48C2-8A8F-2852D14EF5B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28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kumar" userId="d02530ff01d07b95" providerId="LiveId" clId="{3D05455F-B13B-43E1-B10D-C2FD45B38EA8}"/>
    <pc:docChg chg="custSel modSld sldOrd">
      <pc:chgData name="vinay kumar" userId="d02530ff01d07b95" providerId="LiveId" clId="{3D05455F-B13B-43E1-B10D-C2FD45B38EA8}" dt="2026-05-20T07:46:39.502" v="61" actId="1076"/>
      <pc:docMkLst>
        <pc:docMk/>
      </pc:docMkLst>
      <pc:sldChg chg="delSp modSp mod">
        <pc:chgData name="vinay kumar" userId="d02530ff01d07b95" providerId="LiveId" clId="{3D05455F-B13B-43E1-B10D-C2FD45B38EA8}" dt="2026-05-19T02:19:23.932" v="12" actId="14100"/>
        <pc:sldMkLst>
          <pc:docMk/>
          <pc:sldMk cId="0" sldId="260"/>
        </pc:sldMkLst>
        <pc:spChg chg="mod">
          <ac:chgData name="vinay kumar" userId="d02530ff01d07b95" providerId="LiveId" clId="{3D05455F-B13B-43E1-B10D-C2FD45B38EA8}" dt="2026-05-19T02:19:23.932" v="12" actId="14100"/>
          <ac:spMkLst>
            <pc:docMk/>
            <pc:sldMk cId="0" sldId="260"/>
            <ac:spMk id="246" creationId="{00000000-0000-0000-0000-000000000000}"/>
          </ac:spMkLst>
        </pc:spChg>
        <pc:spChg chg="del">
          <ac:chgData name="vinay kumar" userId="d02530ff01d07b95" providerId="LiveId" clId="{3D05455F-B13B-43E1-B10D-C2FD45B38EA8}" dt="2026-05-19T02:19:17.771" v="11" actId="478"/>
          <ac:spMkLst>
            <pc:docMk/>
            <pc:sldMk cId="0" sldId="260"/>
            <ac:spMk id="247" creationId="{00000000-0000-0000-0000-000000000000}"/>
          </ac:spMkLst>
        </pc:spChg>
      </pc:sldChg>
      <pc:sldChg chg="modSp mod">
        <pc:chgData name="vinay kumar" userId="d02530ff01d07b95" providerId="LiveId" clId="{3D05455F-B13B-43E1-B10D-C2FD45B38EA8}" dt="2026-05-19T02:18:34.739" v="6" actId="2710"/>
        <pc:sldMkLst>
          <pc:docMk/>
          <pc:sldMk cId="0" sldId="261"/>
        </pc:sldMkLst>
        <pc:spChg chg="mod">
          <ac:chgData name="vinay kumar" userId="d02530ff01d07b95" providerId="LiveId" clId="{3D05455F-B13B-43E1-B10D-C2FD45B38EA8}" dt="2026-05-19T02:18:34.739" v="6" actId="2710"/>
          <ac:spMkLst>
            <pc:docMk/>
            <pc:sldMk cId="0" sldId="261"/>
            <ac:spMk id="11" creationId="{E1D3BD87-700F-36E9-DA0C-889EFC35F2F9}"/>
          </ac:spMkLst>
        </pc:spChg>
      </pc:sldChg>
      <pc:sldChg chg="modSp mod">
        <pc:chgData name="vinay kumar" userId="d02530ff01d07b95" providerId="LiveId" clId="{3D05455F-B13B-43E1-B10D-C2FD45B38EA8}" dt="2026-05-19T02:18:10.883" v="4" actId="2710"/>
        <pc:sldMkLst>
          <pc:docMk/>
          <pc:sldMk cId="1382685510" sldId="283"/>
        </pc:sldMkLst>
        <pc:spChg chg="mod">
          <ac:chgData name="vinay kumar" userId="d02530ff01d07b95" providerId="LiveId" clId="{3D05455F-B13B-43E1-B10D-C2FD45B38EA8}" dt="2026-05-19T02:18:10.883" v="4" actId="2710"/>
          <ac:spMkLst>
            <pc:docMk/>
            <pc:sldMk cId="1382685510" sldId="283"/>
            <ac:spMk id="11" creationId="{4A8E6A8A-6514-E04D-320F-7E6B166F3E6C}"/>
          </ac:spMkLst>
        </pc:spChg>
      </pc:sldChg>
      <pc:sldChg chg="modSp mod">
        <pc:chgData name="vinay kumar" userId="d02530ff01d07b95" providerId="LiveId" clId="{3D05455F-B13B-43E1-B10D-C2FD45B38EA8}" dt="2026-05-19T02:17:54.083" v="3" actId="14100"/>
        <pc:sldMkLst>
          <pc:docMk/>
          <pc:sldMk cId="4247030169" sldId="285"/>
        </pc:sldMkLst>
        <pc:spChg chg="mod">
          <ac:chgData name="vinay kumar" userId="d02530ff01d07b95" providerId="LiveId" clId="{3D05455F-B13B-43E1-B10D-C2FD45B38EA8}" dt="2026-05-19T02:17:54.083" v="3" actId="14100"/>
          <ac:spMkLst>
            <pc:docMk/>
            <pc:sldMk cId="4247030169" sldId="285"/>
            <ac:spMk id="11" creationId="{1F68BF6E-AE3D-C5B2-F4CE-790AC3A9C076}"/>
          </ac:spMkLst>
        </pc:spChg>
      </pc:sldChg>
      <pc:sldChg chg="modSp mod">
        <pc:chgData name="vinay kumar" userId="d02530ff01d07b95" providerId="LiveId" clId="{3D05455F-B13B-43E1-B10D-C2FD45B38EA8}" dt="2026-05-19T02:17:29.717" v="0" actId="2710"/>
        <pc:sldMkLst>
          <pc:docMk/>
          <pc:sldMk cId="3026795518" sldId="287"/>
        </pc:sldMkLst>
        <pc:spChg chg="mod">
          <ac:chgData name="vinay kumar" userId="d02530ff01d07b95" providerId="LiveId" clId="{3D05455F-B13B-43E1-B10D-C2FD45B38EA8}" dt="2026-05-19T02:17:29.717" v="0" actId="2710"/>
          <ac:spMkLst>
            <pc:docMk/>
            <pc:sldMk cId="3026795518" sldId="287"/>
            <ac:spMk id="11" creationId="{45E4BA7D-3011-B910-05B2-5323B8AF73C9}"/>
          </ac:spMkLst>
        </pc:spChg>
      </pc:sldChg>
      <pc:sldChg chg="modSp mod">
        <pc:chgData name="vinay kumar" userId="d02530ff01d07b95" providerId="LiveId" clId="{3D05455F-B13B-43E1-B10D-C2FD45B38EA8}" dt="2026-05-19T02:20:24.597" v="15" actId="20577"/>
        <pc:sldMkLst>
          <pc:docMk/>
          <pc:sldMk cId="3459141441" sldId="292"/>
        </pc:sldMkLst>
        <pc:spChg chg="mod">
          <ac:chgData name="vinay kumar" userId="d02530ff01d07b95" providerId="LiveId" clId="{3D05455F-B13B-43E1-B10D-C2FD45B38EA8}" dt="2026-05-19T02:20:24.597" v="15" actId="20577"/>
          <ac:spMkLst>
            <pc:docMk/>
            <pc:sldMk cId="3459141441" sldId="292"/>
            <ac:spMk id="11" creationId="{0675B8F4-5556-E4DC-B622-46CEA3DFE991}"/>
          </ac:spMkLst>
        </pc:spChg>
      </pc:sldChg>
      <pc:sldChg chg="modSp mod">
        <pc:chgData name="vinay kumar" userId="d02530ff01d07b95" providerId="LiveId" clId="{3D05455F-B13B-43E1-B10D-C2FD45B38EA8}" dt="2026-05-19T02:20:04.473" v="13" actId="207"/>
        <pc:sldMkLst>
          <pc:docMk/>
          <pc:sldMk cId="3093080762" sldId="293"/>
        </pc:sldMkLst>
        <pc:spChg chg="mod">
          <ac:chgData name="vinay kumar" userId="d02530ff01d07b95" providerId="LiveId" clId="{3D05455F-B13B-43E1-B10D-C2FD45B38EA8}" dt="2026-05-19T02:20:04.473" v="13" actId="207"/>
          <ac:spMkLst>
            <pc:docMk/>
            <pc:sldMk cId="3093080762" sldId="293"/>
            <ac:spMk id="11" creationId="{4CE365B1-50B2-1CBE-23F5-9EC16E402010}"/>
          </ac:spMkLst>
        </pc:spChg>
      </pc:sldChg>
      <pc:sldChg chg="ord">
        <pc:chgData name="vinay kumar" userId="d02530ff01d07b95" providerId="LiveId" clId="{3D05455F-B13B-43E1-B10D-C2FD45B38EA8}" dt="2026-05-20T03:21:11.590" v="17"/>
        <pc:sldMkLst>
          <pc:docMk/>
          <pc:sldMk cId="641141996" sldId="307"/>
        </pc:sldMkLst>
      </pc:sldChg>
      <pc:sldChg chg="addSp modSp mod">
        <pc:chgData name="vinay kumar" userId="d02530ff01d07b95" providerId="LiveId" clId="{3D05455F-B13B-43E1-B10D-C2FD45B38EA8}" dt="2026-05-20T07:26:16.982" v="47" actId="14100"/>
        <pc:sldMkLst>
          <pc:docMk/>
          <pc:sldMk cId="1927727473" sldId="326"/>
        </pc:sldMkLst>
        <pc:picChg chg="add mod">
          <ac:chgData name="vinay kumar" userId="d02530ff01d07b95" providerId="LiveId" clId="{3D05455F-B13B-43E1-B10D-C2FD45B38EA8}" dt="2026-05-20T07:26:16.982" v="47" actId="14100"/>
          <ac:picMkLst>
            <pc:docMk/>
            <pc:sldMk cId="1927727473" sldId="326"/>
            <ac:picMk id="4" creationId="{933D28E7-9BE6-CF0C-25F3-A28F66DC37AE}"/>
          </ac:picMkLst>
        </pc:picChg>
      </pc:sldChg>
      <pc:sldChg chg="addSp delSp modSp mod">
        <pc:chgData name="vinay kumar" userId="d02530ff01d07b95" providerId="LiveId" clId="{3D05455F-B13B-43E1-B10D-C2FD45B38EA8}" dt="2026-05-20T07:46:15.232" v="59" actId="14100"/>
        <pc:sldMkLst>
          <pc:docMk/>
          <pc:sldMk cId="1543113805" sldId="327"/>
        </pc:sldMkLst>
        <pc:spChg chg="mod">
          <ac:chgData name="vinay kumar" userId="d02530ff01d07b95" providerId="LiveId" clId="{3D05455F-B13B-43E1-B10D-C2FD45B38EA8}" dt="2026-05-20T07:28:17.994" v="55" actId="1076"/>
          <ac:spMkLst>
            <pc:docMk/>
            <pc:sldMk cId="1543113805" sldId="327"/>
            <ac:spMk id="2" creationId="{1D02B0F4-6717-CD43-F6AC-FA9DA41149AB}"/>
          </ac:spMkLst>
        </pc:spChg>
        <pc:spChg chg="add del">
          <ac:chgData name="vinay kumar" userId="d02530ff01d07b95" providerId="LiveId" clId="{3D05455F-B13B-43E1-B10D-C2FD45B38EA8}" dt="2026-05-20T07:19:25.272" v="30" actId="478"/>
          <ac:spMkLst>
            <pc:docMk/>
            <pc:sldMk cId="1543113805" sldId="327"/>
            <ac:spMk id="4" creationId="{21975AFD-10EB-60B4-65D2-308A74A9B676}"/>
          </ac:spMkLst>
        </pc:spChg>
        <pc:picChg chg="add mod">
          <ac:chgData name="vinay kumar" userId="d02530ff01d07b95" providerId="LiveId" clId="{3D05455F-B13B-43E1-B10D-C2FD45B38EA8}" dt="2026-05-20T07:46:15.232" v="59" actId="14100"/>
          <ac:picMkLst>
            <pc:docMk/>
            <pc:sldMk cId="1543113805" sldId="327"/>
            <ac:picMk id="6" creationId="{785E7835-4CD1-D391-FC0B-EA83098987E8}"/>
          </ac:picMkLst>
        </pc:picChg>
      </pc:sldChg>
      <pc:sldChg chg="addSp delSp modSp mod">
        <pc:chgData name="vinay kumar" userId="d02530ff01d07b95" providerId="LiveId" clId="{3D05455F-B13B-43E1-B10D-C2FD45B38EA8}" dt="2026-05-20T07:46:06.335" v="58" actId="14100"/>
        <pc:sldMkLst>
          <pc:docMk/>
          <pc:sldMk cId="2195484539" sldId="328"/>
        </pc:sldMkLst>
        <pc:spChg chg="mod">
          <ac:chgData name="vinay kumar" userId="d02530ff01d07b95" providerId="LiveId" clId="{3D05455F-B13B-43E1-B10D-C2FD45B38EA8}" dt="2026-05-20T07:26:46.057" v="48" actId="1076"/>
          <ac:spMkLst>
            <pc:docMk/>
            <pc:sldMk cId="2195484539" sldId="328"/>
            <ac:spMk id="2" creationId="{840C7F93-A6B2-8795-896D-5B6A0D697B73}"/>
          </ac:spMkLst>
        </pc:spChg>
        <pc:spChg chg="add del">
          <ac:chgData name="vinay kumar" userId="d02530ff01d07b95" providerId="LiveId" clId="{3D05455F-B13B-43E1-B10D-C2FD45B38EA8}" dt="2026-05-20T07:21:35.033" v="33" actId="478"/>
          <ac:spMkLst>
            <pc:docMk/>
            <pc:sldMk cId="2195484539" sldId="328"/>
            <ac:spMk id="4" creationId="{E544E23A-61A1-2898-4303-4E0764746AFF}"/>
          </ac:spMkLst>
        </pc:spChg>
        <pc:picChg chg="add mod">
          <ac:chgData name="vinay kumar" userId="d02530ff01d07b95" providerId="LiveId" clId="{3D05455F-B13B-43E1-B10D-C2FD45B38EA8}" dt="2026-05-20T07:46:06.335" v="58" actId="14100"/>
          <ac:picMkLst>
            <pc:docMk/>
            <pc:sldMk cId="2195484539" sldId="328"/>
            <ac:picMk id="6" creationId="{5734E9E7-2B70-9C31-8020-0EDDB79787E4}"/>
          </ac:picMkLst>
        </pc:picChg>
      </pc:sldChg>
      <pc:sldChg chg="addSp modSp mod">
        <pc:chgData name="vinay kumar" userId="d02530ff01d07b95" providerId="LiveId" clId="{3D05455F-B13B-43E1-B10D-C2FD45B38EA8}" dt="2026-05-20T07:46:39.502" v="61" actId="1076"/>
        <pc:sldMkLst>
          <pc:docMk/>
          <pc:sldMk cId="834932992" sldId="329"/>
        </pc:sldMkLst>
        <pc:spChg chg="mod">
          <ac:chgData name="vinay kumar" userId="d02530ff01d07b95" providerId="LiveId" clId="{3D05455F-B13B-43E1-B10D-C2FD45B38EA8}" dt="2026-05-20T07:46:39.502" v="61" actId="1076"/>
          <ac:spMkLst>
            <pc:docMk/>
            <pc:sldMk cId="834932992" sldId="329"/>
            <ac:spMk id="2" creationId="{80EB3C77-E42B-39E4-640F-6D29C4BCAC22}"/>
          </ac:spMkLst>
        </pc:spChg>
        <pc:picChg chg="add mod">
          <ac:chgData name="vinay kumar" userId="d02530ff01d07b95" providerId="LiveId" clId="{3D05455F-B13B-43E1-B10D-C2FD45B38EA8}" dt="2026-05-20T07:46:29.078" v="60" actId="14100"/>
          <ac:picMkLst>
            <pc:docMk/>
            <pc:sldMk cId="834932992" sldId="329"/>
            <ac:picMk id="3" creationId="{455FEDE4-FB8C-9CF5-8E2F-D1D7B4D65A0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e95acfe9b9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e95acfe9b9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3ce2af5b7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3ce2af5b7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e88df15e3f_0_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1e91cfbdf0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1e91cfbdf0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13ce2af5b70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B58A5933-FDBC-DDC1-B0EE-4A088B61B4C1}"/>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01CA9BBF-AE90-6F5D-664D-7FB2CAE28C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3A0E2A17-B598-25D9-7B5C-81ADD306BA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7120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27E7E3A8-91CE-B0C4-377D-7FF01DCC74F4}"/>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AAA88DCA-2CE4-560D-9749-73201F7833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6F01A05F-92F5-2C53-6FD9-13BDBD9C49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0704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3B33ED2D-C4D7-F62F-98E3-97FB19615A8E}"/>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4B2EE562-2001-07CB-D35E-14047AF584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56697C06-2848-5DC0-6BB2-0B32E2E9C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454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93C41D0-F21E-012D-0296-DBACEFB2F8F2}"/>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70B60F53-6997-9E0E-CB9D-432CF4CD93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47AC310A-6C4B-13DB-51A7-68A048D28C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8257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A837D135-C7B5-7F68-A44D-62AE7BEF4DFE}"/>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F3D37E49-9A4E-75AB-240B-D87576B4C7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B3D00F33-530D-5491-7ED4-889844800BB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5145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4A59A0D-DE9D-84FA-6F5B-C6A8D6798D7D}"/>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2459A73F-FA84-89FC-7DB7-BB6743571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56124D56-B210-2924-524F-1D6744F607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8256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2D03A97F-F574-6E4C-90C5-5E53572A2362}"/>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52206C82-5208-07E9-D75A-CA11856B6D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FD43F429-E397-FF3D-8AA2-F46819C953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18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e920bbbf9b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1e920bbbf9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1e920bbbf9b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e920bbbf9b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e920bbbf9b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1e920bbbf9b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DD07BC08-593B-D3CE-4AC7-BE691A8EDCF2}"/>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14E847C8-B9FF-A606-1C77-EF3471987F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A85B8503-9320-37CA-817C-2A28B5114B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2098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40B8CF41-B324-527B-B3AA-24E521F96E1E}"/>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71C2BDC4-8A3F-8B6A-7E88-2217152582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309A7634-2F26-519E-F760-5ED4BFBC27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0883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g1e920bbbf9b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9" name="Google Shape;439;g1e920bbbf9b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BD294978-C38D-DCEB-775D-4A0259C43F00}"/>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14288D89-B202-A523-6F31-F75D43C21B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EC2B3EF2-205E-7661-E110-1596C536F4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20335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D5D2DAC7-3F20-CAE9-2E4E-CD0838C9BA7C}"/>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388788D5-4C0B-6737-50CF-40EB1582B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2DFF212E-190A-D6B1-237E-D404927BBE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69945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817BE38D-BB70-7530-7E2B-510768531298}"/>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4F24B2AD-20CE-E02A-27C2-C88B5909BD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6F551CD0-02A1-7A71-ECC6-F387D64C91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5685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08C049CF-E932-70A2-F887-7A9ECBC06D48}"/>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94C0D21B-82E3-796B-6835-23F5518EBD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D574C29A-EA65-8DCB-FB13-25480FDEBA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80029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0678B7A-F470-345D-6B47-818FC6E60C02}"/>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A5303ABE-93BC-BAD5-ADE4-4AD349472B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D9D408E1-A1A4-CD4F-BC0F-57E252F3CA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52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2E32956E-7690-A658-2B8E-77A0E6C3664B}"/>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BF233CFC-7877-31D2-912D-5DDA68F53B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A98CBE3A-0A76-75CC-C2C0-B06E92BF8E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2327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248AEDB9-BF74-EE0C-1FCD-086387001628}"/>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B81788C4-CC25-28E6-E6CF-12D0E30192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F1131F14-0BDD-22E2-1B0C-1C4F0F5812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40818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93152FEF-145A-4EB2-DF9A-6BBBC88CFA96}"/>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A443A528-BC9E-5268-631C-1930BF7BDA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CB62DB8B-26F1-67D8-EBF6-863B84C17B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4256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667232AF-E26A-2268-5A11-6D41AD3B5720}"/>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6DA52A47-24A7-39C2-A163-FB353AA49F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CB2FB5AB-315D-8452-ECBA-483D350B5A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95916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58D2F086-F38C-08BB-9670-954B7F30F157}"/>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5DF759BB-1DDC-4D0A-4606-E910EFB71D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6DE694F1-AF9D-6436-6FCB-32BA8381AF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24475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9D895C61-CECF-857A-0726-15BD0FF73533}"/>
            </a:ext>
          </a:extLst>
        </p:cNvPr>
        <p:cNvGrpSpPr/>
        <p:nvPr/>
      </p:nvGrpSpPr>
      <p:grpSpPr>
        <a:xfrm>
          <a:off x="0" y="0"/>
          <a:ext cx="0" cy="0"/>
          <a:chOff x="0" y="0"/>
          <a:chExt cx="0" cy="0"/>
        </a:xfrm>
      </p:grpSpPr>
      <p:sp>
        <p:nvSpPr>
          <p:cNvPr id="229" name="Google Shape;229;g1e88df15e3f_0_521:notes">
            <a:extLst>
              <a:ext uri="{FF2B5EF4-FFF2-40B4-BE49-F238E27FC236}">
                <a16:creationId xmlns:a16="http://schemas.microsoft.com/office/drawing/2014/main" id="{9FBBB83C-F354-F872-A0D9-896F8B3F9A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a:extLst>
              <a:ext uri="{FF2B5EF4-FFF2-40B4-BE49-F238E27FC236}">
                <a16:creationId xmlns:a16="http://schemas.microsoft.com/office/drawing/2014/main" id="{0CE754BD-0AFD-7E0C-568A-83FA44D63A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13057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6D7CFE5C-AE18-6BA9-9C9F-9A97F7CF4C98}"/>
            </a:ext>
          </a:extLst>
        </p:cNvPr>
        <p:cNvGrpSpPr/>
        <p:nvPr/>
      </p:nvGrpSpPr>
      <p:grpSpPr>
        <a:xfrm>
          <a:off x="0" y="0"/>
          <a:ext cx="0" cy="0"/>
          <a:chOff x="0" y="0"/>
          <a:chExt cx="0" cy="0"/>
        </a:xfrm>
      </p:grpSpPr>
      <p:sp>
        <p:nvSpPr>
          <p:cNvPr id="375" name="Google Shape;375;g1e920bbbf9b_0_115:notes">
            <a:extLst>
              <a:ext uri="{FF2B5EF4-FFF2-40B4-BE49-F238E27FC236}">
                <a16:creationId xmlns:a16="http://schemas.microsoft.com/office/drawing/2014/main" id="{A138491D-9B8F-C4F2-299D-42E28ECACA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e920bbbf9b_0_115:notes">
            <a:extLst>
              <a:ext uri="{FF2B5EF4-FFF2-40B4-BE49-F238E27FC236}">
                <a16:creationId xmlns:a16="http://schemas.microsoft.com/office/drawing/2014/main" id="{422F639E-C2F8-C589-0322-4D74CFD455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0867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4AFE2FD0-983E-9108-5062-297E69272DA1}"/>
            </a:ext>
          </a:extLst>
        </p:cNvPr>
        <p:cNvGrpSpPr/>
        <p:nvPr/>
      </p:nvGrpSpPr>
      <p:grpSpPr>
        <a:xfrm>
          <a:off x="0" y="0"/>
          <a:ext cx="0" cy="0"/>
          <a:chOff x="0" y="0"/>
          <a:chExt cx="0" cy="0"/>
        </a:xfrm>
      </p:grpSpPr>
      <p:sp>
        <p:nvSpPr>
          <p:cNvPr id="375" name="Google Shape;375;g1e920bbbf9b_0_115:notes">
            <a:extLst>
              <a:ext uri="{FF2B5EF4-FFF2-40B4-BE49-F238E27FC236}">
                <a16:creationId xmlns:a16="http://schemas.microsoft.com/office/drawing/2014/main" id="{4B286C87-8A22-8A30-9CEC-25A9444388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e920bbbf9b_0_115:notes">
            <a:extLst>
              <a:ext uri="{FF2B5EF4-FFF2-40B4-BE49-F238E27FC236}">
                <a16:creationId xmlns:a16="http://schemas.microsoft.com/office/drawing/2014/main" id="{300E2865-522F-66A4-CDEC-D6C4D65D05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95809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4CC85C03-F047-DFDB-7C3E-D2DA85172EFC}"/>
            </a:ext>
          </a:extLst>
        </p:cNvPr>
        <p:cNvGrpSpPr/>
        <p:nvPr/>
      </p:nvGrpSpPr>
      <p:grpSpPr>
        <a:xfrm>
          <a:off x="0" y="0"/>
          <a:ext cx="0" cy="0"/>
          <a:chOff x="0" y="0"/>
          <a:chExt cx="0" cy="0"/>
        </a:xfrm>
      </p:grpSpPr>
      <p:sp>
        <p:nvSpPr>
          <p:cNvPr id="375" name="Google Shape;375;g1e920bbbf9b_0_115:notes">
            <a:extLst>
              <a:ext uri="{FF2B5EF4-FFF2-40B4-BE49-F238E27FC236}">
                <a16:creationId xmlns:a16="http://schemas.microsoft.com/office/drawing/2014/main" id="{31D2BE31-1B9E-83D2-2B11-FDDD61CDCE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e920bbbf9b_0_115:notes">
            <a:extLst>
              <a:ext uri="{FF2B5EF4-FFF2-40B4-BE49-F238E27FC236}">
                <a16:creationId xmlns:a16="http://schemas.microsoft.com/office/drawing/2014/main" id="{EA72C916-84FD-C296-EE76-CFCDDA2AE1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15378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a:extLst>
            <a:ext uri="{FF2B5EF4-FFF2-40B4-BE49-F238E27FC236}">
              <a16:creationId xmlns:a16="http://schemas.microsoft.com/office/drawing/2014/main" id="{F72F819C-23ED-53DB-5568-37930E7AD4B2}"/>
            </a:ext>
          </a:extLst>
        </p:cNvPr>
        <p:cNvGrpSpPr/>
        <p:nvPr/>
      </p:nvGrpSpPr>
      <p:grpSpPr>
        <a:xfrm>
          <a:off x="0" y="0"/>
          <a:ext cx="0" cy="0"/>
          <a:chOff x="0" y="0"/>
          <a:chExt cx="0" cy="0"/>
        </a:xfrm>
      </p:grpSpPr>
      <p:sp>
        <p:nvSpPr>
          <p:cNvPr id="375" name="Google Shape;375;g1e920bbbf9b_0_115:notes">
            <a:extLst>
              <a:ext uri="{FF2B5EF4-FFF2-40B4-BE49-F238E27FC236}">
                <a16:creationId xmlns:a16="http://schemas.microsoft.com/office/drawing/2014/main" id="{CA0F1430-1C29-937E-A5E0-C572DC257F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1e920bbbf9b_0_115:notes">
            <a:extLst>
              <a:ext uri="{FF2B5EF4-FFF2-40B4-BE49-F238E27FC236}">
                <a16:creationId xmlns:a16="http://schemas.microsoft.com/office/drawing/2014/main" id="{D7C4AD08-C847-DDAC-7D6C-99D7EEC33B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4532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B8568B6C-AA1B-E8DF-0E75-5612CE876977}"/>
            </a:ext>
          </a:extLst>
        </p:cNvPr>
        <p:cNvGrpSpPr/>
        <p:nvPr/>
      </p:nvGrpSpPr>
      <p:grpSpPr>
        <a:xfrm>
          <a:off x="0" y="0"/>
          <a:ext cx="0" cy="0"/>
          <a:chOff x="0" y="0"/>
          <a:chExt cx="0" cy="0"/>
        </a:xfrm>
      </p:grpSpPr>
      <p:sp>
        <p:nvSpPr>
          <p:cNvPr id="229" name="Google Shape;229;g1e88df15e3f_0_521:notes">
            <a:extLst>
              <a:ext uri="{FF2B5EF4-FFF2-40B4-BE49-F238E27FC236}">
                <a16:creationId xmlns:a16="http://schemas.microsoft.com/office/drawing/2014/main" id="{E9F28274-9B2B-28C6-9E23-709CEB633F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a:extLst>
              <a:ext uri="{FF2B5EF4-FFF2-40B4-BE49-F238E27FC236}">
                <a16:creationId xmlns:a16="http://schemas.microsoft.com/office/drawing/2014/main" id="{9BE1A5D8-1682-F5CA-5B44-B68EC4EC9C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375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4F0D18CA-1FF1-9AC4-1C08-C607250F0D69}"/>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6AF86B3D-0D67-D4E2-1A97-82AE4B6C09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AF84618C-5CB8-B909-32E5-F1B417306C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78673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7596C8A7-9D07-98D1-59C6-37E8E137F4AF}"/>
            </a:ext>
          </a:extLst>
        </p:cNvPr>
        <p:cNvGrpSpPr/>
        <p:nvPr/>
      </p:nvGrpSpPr>
      <p:grpSpPr>
        <a:xfrm>
          <a:off x="0" y="0"/>
          <a:ext cx="0" cy="0"/>
          <a:chOff x="0" y="0"/>
          <a:chExt cx="0" cy="0"/>
        </a:xfrm>
      </p:grpSpPr>
      <p:sp>
        <p:nvSpPr>
          <p:cNvPr id="229" name="Google Shape;229;g1e88df15e3f_0_521:notes">
            <a:extLst>
              <a:ext uri="{FF2B5EF4-FFF2-40B4-BE49-F238E27FC236}">
                <a16:creationId xmlns:a16="http://schemas.microsoft.com/office/drawing/2014/main" id="{172140DA-191D-B757-1625-34F5EDAC01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a:extLst>
              <a:ext uri="{FF2B5EF4-FFF2-40B4-BE49-F238E27FC236}">
                <a16:creationId xmlns:a16="http://schemas.microsoft.com/office/drawing/2014/main" id="{999F45BE-7831-B0C0-A233-C966E9D13D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67720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E162930B-4917-051D-48A3-7F6898766BBA}"/>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67FB1CC1-8827-5A71-7A98-6320BBC4B8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EFFEFF12-2654-D942-AF5B-BF7942D9F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2388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6E3038A8-4109-5CF2-568D-D86DBD8431D4}"/>
            </a:ext>
          </a:extLst>
        </p:cNvPr>
        <p:cNvGrpSpPr/>
        <p:nvPr/>
      </p:nvGrpSpPr>
      <p:grpSpPr>
        <a:xfrm>
          <a:off x="0" y="0"/>
          <a:ext cx="0" cy="0"/>
          <a:chOff x="0" y="0"/>
          <a:chExt cx="0" cy="0"/>
        </a:xfrm>
      </p:grpSpPr>
      <p:sp>
        <p:nvSpPr>
          <p:cNvPr id="229" name="Google Shape;229;g1e88df15e3f_0_521:notes">
            <a:extLst>
              <a:ext uri="{FF2B5EF4-FFF2-40B4-BE49-F238E27FC236}">
                <a16:creationId xmlns:a16="http://schemas.microsoft.com/office/drawing/2014/main" id="{EDF07815-B151-5D26-DBDA-7A27735A66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a:extLst>
              <a:ext uri="{FF2B5EF4-FFF2-40B4-BE49-F238E27FC236}">
                <a16:creationId xmlns:a16="http://schemas.microsoft.com/office/drawing/2014/main" id="{352F35D8-9741-46D2-2886-209C1899EB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98558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57B16ECC-519F-7D88-A852-BCCAEA64A16C}"/>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5FA4DDA5-F48D-6BC4-6860-54D8CDD57A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46F77BA2-7971-8AAD-F537-8D7D6F03A7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30589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a:extLst>
            <a:ext uri="{FF2B5EF4-FFF2-40B4-BE49-F238E27FC236}">
              <a16:creationId xmlns:a16="http://schemas.microsoft.com/office/drawing/2014/main" id="{35A1A688-699B-3106-90AE-A47A8B5C5BEF}"/>
            </a:ext>
          </a:extLst>
        </p:cNvPr>
        <p:cNvGrpSpPr/>
        <p:nvPr/>
      </p:nvGrpSpPr>
      <p:grpSpPr>
        <a:xfrm>
          <a:off x="0" y="0"/>
          <a:ext cx="0" cy="0"/>
          <a:chOff x="0" y="0"/>
          <a:chExt cx="0" cy="0"/>
        </a:xfrm>
      </p:grpSpPr>
      <p:sp>
        <p:nvSpPr>
          <p:cNvPr id="251" name="Google Shape;251;g13ce2af5b70_0_25:notes">
            <a:extLst>
              <a:ext uri="{FF2B5EF4-FFF2-40B4-BE49-F238E27FC236}">
                <a16:creationId xmlns:a16="http://schemas.microsoft.com/office/drawing/2014/main" id="{8C926669-5774-4173-E0F2-A5DA136F28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13ce2af5b70_0_25:notes">
            <a:extLst>
              <a:ext uri="{FF2B5EF4-FFF2-40B4-BE49-F238E27FC236}">
                <a16:creationId xmlns:a16="http://schemas.microsoft.com/office/drawing/2014/main" id="{3C5DF8B2-7B66-831A-EDED-DC609FC9E6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17332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1FD972C5-C23A-56D3-D8CE-C63190B44E17}"/>
            </a:ext>
          </a:extLst>
        </p:cNvPr>
        <p:cNvGrpSpPr/>
        <p:nvPr/>
      </p:nvGrpSpPr>
      <p:grpSpPr>
        <a:xfrm>
          <a:off x="0" y="0"/>
          <a:ext cx="0" cy="0"/>
          <a:chOff x="0" y="0"/>
          <a:chExt cx="0" cy="0"/>
        </a:xfrm>
      </p:grpSpPr>
      <p:sp>
        <p:nvSpPr>
          <p:cNvPr id="229" name="Google Shape;229;g1e88df15e3f_0_521:notes">
            <a:extLst>
              <a:ext uri="{FF2B5EF4-FFF2-40B4-BE49-F238E27FC236}">
                <a16:creationId xmlns:a16="http://schemas.microsoft.com/office/drawing/2014/main" id="{97347973-1231-28F7-DFB2-2B68C93A11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e88df15e3f_0_521:notes">
            <a:extLst>
              <a:ext uri="{FF2B5EF4-FFF2-40B4-BE49-F238E27FC236}">
                <a16:creationId xmlns:a16="http://schemas.microsoft.com/office/drawing/2014/main" id="{86136DEE-E231-8563-FA07-6A376F3E25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33827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2375" y="1414950"/>
            <a:ext cx="4111200" cy="18690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2375" y="3283950"/>
            <a:ext cx="4111200" cy="444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749025" y="2542325"/>
            <a:ext cx="3136200" cy="12438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4983883" y="1588901"/>
            <a:ext cx="896400" cy="780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2000"/>
              <a:buNone/>
              <a:defRPr sz="40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4" name="Google Shape;14;p3"/>
          <p:cNvSpPr txBox="1"/>
          <p:nvPr/>
        </p:nvSpPr>
        <p:spPr>
          <a:xfrm>
            <a:off x="5991600" y="4604000"/>
            <a:ext cx="3000000" cy="338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a:solidFill>
                  <a:schemeClr val="dk1"/>
                </a:solidFill>
                <a:latin typeface="Comfortaa"/>
                <a:ea typeface="Comfortaa"/>
                <a:cs typeface="Comfortaa"/>
                <a:sym typeface="Comfortaa"/>
              </a:rPr>
              <a:t>Illustration by Smart-Servier Medical Art</a:t>
            </a:r>
            <a:endParaRPr sz="800">
              <a:solidFill>
                <a:schemeClr val="dk1"/>
              </a:solidFill>
              <a:latin typeface="Comfortaa"/>
              <a:ea typeface="Comfortaa"/>
              <a:cs typeface="Comfortaa"/>
              <a:sym typeface="Comforta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3" name="Google Shape;33;p6"/>
          <p:cNvSpPr/>
          <p:nvPr/>
        </p:nvSpPr>
        <p:spPr>
          <a:xfrm rot="2700000">
            <a:off x="-1108221" y="4709372"/>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34" name="Google Shape;34;p6"/>
          <p:cNvSpPr/>
          <p:nvPr/>
        </p:nvSpPr>
        <p:spPr>
          <a:xfrm rot="2700000">
            <a:off x="7455079" y="-230667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722375" y="539500"/>
            <a:ext cx="5310000" cy="5760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7" name="Google Shape;37;p7"/>
          <p:cNvSpPr txBox="1">
            <a:spLocks noGrp="1"/>
          </p:cNvSpPr>
          <p:nvPr>
            <p:ph type="body" idx="1"/>
          </p:nvPr>
        </p:nvSpPr>
        <p:spPr>
          <a:xfrm>
            <a:off x="722375" y="1672200"/>
            <a:ext cx="3791400" cy="1799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grpSp>
        <p:nvGrpSpPr>
          <p:cNvPr id="38" name="Google Shape;38;p7"/>
          <p:cNvGrpSpPr/>
          <p:nvPr/>
        </p:nvGrpSpPr>
        <p:grpSpPr>
          <a:xfrm>
            <a:off x="-2705310" y="3034883"/>
            <a:ext cx="13822274" cy="4182767"/>
            <a:chOff x="-2705310" y="3034883"/>
            <a:chExt cx="13822274" cy="4182767"/>
          </a:xfrm>
        </p:grpSpPr>
        <p:sp>
          <p:nvSpPr>
            <p:cNvPr id="39" name="Google Shape;39;p7"/>
            <p:cNvSpPr/>
            <p:nvPr/>
          </p:nvSpPr>
          <p:spPr>
            <a:xfrm rot="2700000">
              <a:off x="7843928" y="3944614"/>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40" name="Google Shape;40;p7"/>
            <p:cNvSpPr/>
            <p:nvPr/>
          </p:nvSpPr>
          <p:spPr>
            <a:xfrm rot="2700000">
              <a:off x="-2143746" y="3596447"/>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
        <p:nvSpPr>
          <p:cNvPr id="41" name="Google Shape;41;p7"/>
          <p:cNvSpPr>
            <a:spLocks noGrp="1"/>
          </p:cNvSpPr>
          <p:nvPr>
            <p:ph type="pic" idx="2"/>
          </p:nvPr>
        </p:nvSpPr>
        <p:spPr>
          <a:xfrm>
            <a:off x="5432040" y="809350"/>
            <a:ext cx="3657600" cy="3657600"/>
          </a:xfrm>
          <a:prstGeom prst="diamond">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1462650" y="990000"/>
            <a:ext cx="6218700" cy="3163500"/>
          </a:xfrm>
          <a:prstGeom prst="rect">
            <a:avLst/>
          </a:prstGeom>
        </p:spPr>
        <p:txBody>
          <a:bodyPr spcFirstLastPara="1" wrap="square" lIns="91425" tIns="91425" rIns="91425" bIns="91425" anchor="ctr" anchorCtr="0">
            <a:no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grpSp>
        <p:nvGrpSpPr>
          <p:cNvPr id="44" name="Google Shape;44;p8"/>
          <p:cNvGrpSpPr/>
          <p:nvPr/>
        </p:nvGrpSpPr>
        <p:grpSpPr>
          <a:xfrm flipH="1">
            <a:off x="-2236913" y="-1420692"/>
            <a:ext cx="12842712" cy="8065542"/>
            <a:chOff x="-1945272" y="-1420692"/>
            <a:chExt cx="12842712" cy="8065542"/>
          </a:xfrm>
        </p:grpSpPr>
        <p:sp>
          <p:nvSpPr>
            <p:cNvPr id="45" name="Google Shape;45;p8"/>
            <p:cNvSpPr/>
            <p:nvPr/>
          </p:nvSpPr>
          <p:spPr>
            <a:xfrm rot="-2700000" flipH="1">
              <a:off x="-1383708" y="-859128"/>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46" name="Google Shape;46;p8"/>
            <p:cNvSpPr/>
            <p:nvPr/>
          </p:nvSpPr>
          <p:spPr>
            <a:xfrm rot="-2700000" flipH="1">
              <a:off x="7624403" y="33718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grpSp>
        <p:nvGrpSpPr>
          <p:cNvPr id="47" name="Google Shape;47;p8"/>
          <p:cNvGrpSpPr/>
          <p:nvPr/>
        </p:nvGrpSpPr>
        <p:grpSpPr>
          <a:xfrm flipH="1">
            <a:off x="-2778898" y="-2607567"/>
            <a:ext cx="14218322" cy="10511017"/>
            <a:chOff x="-2778898" y="-2607567"/>
            <a:chExt cx="14218322" cy="10511017"/>
          </a:xfrm>
        </p:grpSpPr>
        <p:sp>
          <p:nvSpPr>
            <p:cNvPr id="48" name="Google Shape;48;p8"/>
            <p:cNvSpPr/>
            <p:nvPr/>
          </p:nvSpPr>
          <p:spPr>
            <a:xfrm rot="-2700000" flipH="1">
              <a:off x="2079041" y="-20460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49" name="Google Shape;49;p8"/>
            <p:cNvSpPr/>
            <p:nvPr/>
          </p:nvSpPr>
          <p:spPr>
            <a:xfrm rot="-2700000" flipH="1">
              <a:off x="4234788" y="46304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50" name="Google Shape;50;p8"/>
            <p:cNvSpPr/>
            <p:nvPr/>
          </p:nvSpPr>
          <p:spPr>
            <a:xfrm rot="-2700000" flipH="1">
              <a:off x="-2217334" y="3248272"/>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51" name="Google Shape;51;p8"/>
            <p:cNvSpPr/>
            <p:nvPr/>
          </p:nvSpPr>
          <p:spPr>
            <a:xfrm rot="-2700000" flipH="1">
              <a:off x="8166388" y="-1266986"/>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2549400" y="1532575"/>
            <a:ext cx="4045200" cy="843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4" name="Google Shape;54;p9"/>
          <p:cNvSpPr txBox="1">
            <a:spLocks noGrp="1"/>
          </p:cNvSpPr>
          <p:nvPr>
            <p:ph type="subTitle" idx="1"/>
          </p:nvPr>
        </p:nvSpPr>
        <p:spPr>
          <a:xfrm>
            <a:off x="2549400" y="237582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grpSp>
        <p:nvGrpSpPr>
          <p:cNvPr id="55" name="Google Shape;55;p9"/>
          <p:cNvGrpSpPr/>
          <p:nvPr/>
        </p:nvGrpSpPr>
        <p:grpSpPr>
          <a:xfrm>
            <a:off x="1517477" y="-2607567"/>
            <a:ext cx="5990347" cy="10511017"/>
            <a:chOff x="1517477" y="-2607567"/>
            <a:chExt cx="5990347" cy="10511017"/>
          </a:xfrm>
        </p:grpSpPr>
        <p:sp>
          <p:nvSpPr>
            <p:cNvPr id="56" name="Google Shape;56;p9"/>
            <p:cNvSpPr/>
            <p:nvPr/>
          </p:nvSpPr>
          <p:spPr>
            <a:xfrm rot="-2700000" flipH="1">
              <a:off x="2079041" y="-2046003"/>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57" name="Google Shape;57;p9"/>
            <p:cNvSpPr/>
            <p:nvPr/>
          </p:nvSpPr>
          <p:spPr>
            <a:xfrm rot="-2700000" flipH="1">
              <a:off x="4234788" y="4630414"/>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grpSp>
        <p:nvGrpSpPr>
          <p:cNvPr id="58" name="Google Shape;58;p9"/>
          <p:cNvGrpSpPr/>
          <p:nvPr/>
        </p:nvGrpSpPr>
        <p:grpSpPr>
          <a:xfrm>
            <a:off x="-2778898" y="-1828550"/>
            <a:ext cx="14218322" cy="8473400"/>
            <a:chOff x="-2778898" y="-1828550"/>
            <a:chExt cx="14218322" cy="8473400"/>
          </a:xfrm>
        </p:grpSpPr>
        <p:sp>
          <p:nvSpPr>
            <p:cNvPr id="59" name="Google Shape;59;p9"/>
            <p:cNvSpPr/>
            <p:nvPr/>
          </p:nvSpPr>
          <p:spPr>
            <a:xfrm rot="-2700000" flipH="1">
              <a:off x="-1383708" y="-859128"/>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60" name="Google Shape;60;p9"/>
            <p:cNvSpPr/>
            <p:nvPr/>
          </p:nvSpPr>
          <p:spPr>
            <a:xfrm rot="-2700000" flipH="1">
              <a:off x="7624403" y="3371814"/>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61" name="Google Shape;61;p9"/>
            <p:cNvSpPr/>
            <p:nvPr/>
          </p:nvSpPr>
          <p:spPr>
            <a:xfrm rot="-2700000" flipH="1">
              <a:off x="-2217334" y="3248272"/>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62" name="Google Shape;62;p9"/>
            <p:cNvSpPr/>
            <p:nvPr/>
          </p:nvSpPr>
          <p:spPr>
            <a:xfrm rot="-2700000" flipH="1">
              <a:off x="8166388" y="-1266986"/>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0"/>
          <p:cNvSpPr txBox="1">
            <a:spLocks noGrp="1"/>
          </p:cNvSpPr>
          <p:nvPr>
            <p:ph type="title"/>
          </p:nvPr>
        </p:nvSpPr>
        <p:spPr>
          <a:xfrm>
            <a:off x="722375" y="539500"/>
            <a:ext cx="7699200" cy="572700"/>
          </a:xfrm>
          <a:prstGeom prst="rect">
            <a:avLst/>
          </a:prstGeom>
          <a:solidFill>
            <a:schemeClr val="lt1"/>
          </a:solidFill>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1687800" y="1473150"/>
            <a:ext cx="5768400" cy="137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8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a:spLocks noGrp="1"/>
          </p:cNvSpPr>
          <p:nvPr>
            <p:ph type="subTitle" idx="1"/>
          </p:nvPr>
        </p:nvSpPr>
        <p:spPr>
          <a:xfrm>
            <a:off x="1687825" y="2766140"/>
            <a:ext cx="5768400" cy="9042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
              <a:buNone/>
              <a:defRPr/>
            </a:lvl1pPr>
            <a:lvl2pPr lvl="1" algn="ctr">
              <a:spcBef>
                <a:spcPts val="0"/>
              </a:spcBef>
              <a:spcAft>
                <a:spcPts val="0"/>
              </a:spcAft>
              <a:buSzPts val="1200"/>
              <a:buNone/>
              <a:defRPr/>
            </a:lvl2pPr>
            <a:lvl3pPr lvl="2" algn="ctr">
              <a:spcBef>
                <a:spcPts val="0"/>
              </a:spcBef>
              <a:spcAft>
                <a:spcPts val="0"/>
              </a:spcAft>
              <a:buSzPts val="1200"/>
              <a:buNone/>
              <a:defRPr/>
            </a:lvl3pPr>
            <a:lvl4pPr lvl="3" algn="ctr">
              <a:spcBef>
                <a:spcPts val="0"/>
              </a:spcBef>
              <a:spcAft>
                <a:spcPts val="0"/>
              </a:spcAft>
              <a:buSzPts val="1200"/>
              <a:buNone/>
              <a:defRPr/>
            </a:lvl4pPr>
            <a:lvl5pPr lvl="4" algn="ctr">
              <a:spcBef>
                <a:spcPts val="0"/>
              </a:spcBef>
              <a:spcAft>
                <a:spcPts val="0"/>
              </a:spcAft>
              <a:buSzPts val="1200"/>
              <a:buNone/>
              <a:defRPr/>
            </a:lvl5pPr>
            <a:lvl6pPr lvl="5" algn="ctr">
              <a:spcBef>
                <a:spcPts val="0"/>
              </a:spcBef>
              <a:spcAft>
                <a:spcPts val="0"/>
              </a:spcAft>
              <a:buSzPts val="1200"/>
              <a:buNone/>
              <a:defRPr/>
            </a:lvl6pPr>
            <a:lvl7pPr lvl="6" algn="ctr">
              <a:spcBef>
                <a:spcPts val="0"/>
              </a:spcBef>
              <a:spcAft>
                <a:spcPts val="0"/>
              </a:spcAft>
              <a:buSzPts val="1200"/>
              <a:buNone/>
              <a:defRPr/>
            </a:lvl7pPr>
            <a:lvl8pPr lvl="7" algn="ctr">
              <a:spcBef>
                <a:spcPts val="0"/>
              </a:spcBef>
              <a:spcAft>
                <a:spcPts val="0"/>
              </a:spcAft>
              <a:buSzPts val="1200"/>
              <a:buNone/>
              <a:defRPr/>
            </a:lvl8pPr>
            <a:lvl9pPr lvl="8" algn="ctr">
              <a:spcBef>
                <a:spcPts val="0"/>
              </a:spcBef>
              <a:spcAft>
                <a:spcPts val="0"/>
              </a:spcAft>
              <a:buSzPts val="12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86"/>
        <p:cNvGrpSpPr/>
        <p:nvPr/>
      </p:nvGrpSpPr>
      <p:grpSpPr>
        <a:xfrm>
          <a:off x="0" y="0"/>
          <a:ext cx="0" cy="0"/>
          <a:chOff x="0" y="0"/>
          <a:chExt cx="0" cy="0"/>
        </a:xfrm>
      </p:grpSpPr>
      <p:sp>
        <p:nvSpPr>
          <p:cNvPr id="87" name="Google Shape;87;p14"/>
          <p:cNvSpPr txBox="1">
            <a:spLocks noGrp="1"/>
          </p:cNvSpPr>
          <p:nvPr>
            <p:ph type="title"/>
          </p:nvPr>
        </p:nvSpPr>
        <p:spPr>
          <a:xfrm>
            <a:off x="722375" y="539500"/>
            <a:ext cx="76992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grpSp>
        <p:nvGrpSpPr>
          <p:cNvPr id="88" name="Google Shape;88;p14"/>
          <p:cNvGrpSpPr/>
          <p:nvPr/>
        </p:nvGrpSpPr>
        <p:grpSpPr>
          <a:xfrm>
            <a:off x="-3128392" y="-253917"/>
            <a:ext cx="15320007" cy="5540950"/>
            <a:chOff x="-3128392" y="-253917"/>
            <a:chExt cx="15320007" cy="5540950"/>
          </a:xfrm>
        </p:grpSpPr>
        <p:sp>
          <p:nvSpPr>
            <p:cNvPr id="89" name="Google Shape;89;p14"/>
            <p:cNvSpPr/>
            <p:nvPr/>
          </p:nvSpPr>
          <p:spPr>
            <a:xfrm rot="2700000">
              <a:off x="8918579" y="2013997"/>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90" name="Google Shape;90;p14"/>
            <p:cNvSpPr/>
            <p:nvPr/>
          </p:nvSpPr>
          <p:spPr>
            <a:xfrm rot="2700000">
              <a:off x="-2566828" y="307647"/>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91"/>
        <p:cNvGrpSpPr/>
        <p:nvPr/>
      </p:nvGrpSpPr>
      <p:grpSpPr>
        <a:xfrm>
          <a:off x="0" y="0"/>
          <a:ext cx="0" cy="0"/>
          <a:chOff x="0" y="0"/>
          <a:chExt cx="0" cy="0"/>
        </a:xfrm>
      </p:grpSpPr>
      <p:sp>
        <p:nvSpPr>
          <p:cNvPr id="92" name="Google Shape;92;p15"/>
          <p:cNvSpPr>
            <a:spLocks noGrp="1"/>
          </p:cNvSpPr>
          <p:nvPr>
            <p:ph type="pic" idx="2"/>
          </p:nvPr>
        </p:nvSpPr>
        <p:spPr>
          <a:xfrm>
            <a:off x="4544375" y="261150"/>
            <a:ext cx="4621200" cy="4621200"/>
          </a:xfrm>
          <a:prstGeom prst="diamond">
            <a:avLst/>
          </a:prstGeom>
          <a:noFill/>
          <a:ln>
            <a:noFill/>
          </a:ln>
        </p:spPr>
      </p:sp>
      <p:sp>
        <p:nvSpPr>
          <p:cNvPr id="93" name="Google Shape;93;p15"/>
          <p:cNvSpPr>
            <a:spLocks noGrp="1"/>
          </p:cNvSpPr>
          <p:nvPr>
            <p:ph type="pic" idx="3"/>
          </p:nvPr>
        </p:nvSpPr>
        <p:spPr>
          <a:xfrm>
            <a:off x="1497875" y="2312075"/>
            <a:ext cx="3657600" cy="3657600"/>
          </a:xfrm>
          <a:prstGeom prst="diamond">
            <a:avLst/>
          </a:prstGeom>
          <a:noFill/>
          <a:ln>
            <a:noFill/>
          </a:ln>
        </p:spPr>
      </p:sp>
      <p:sp>
        <p:nvSpPr>
          <p:cNvPr id="94" name="Google Shape;94;p15"/>
          <p:cNvSpPr txBox="1">
            <a:spLocks noGrp="1"/>
          </p:cNvSpPr>
          <p:nvPr>
            <p:ph type="title"/>
          </p:nvPr>
        </p:nvSpPr>
        <p:spPr>
          <a:xfrm>
            <a:off x="722375" y="539500"/>
            <a:ext cx="3822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95" name="Google Shape;95;p15"/>
          <p:cNvSpPr txBox="1">
            <a:spLocks noGrp="1"/>
          </p:cNvSpPr>
          <p:nvPr>
            <p:ph type="subTitle" idx="1"/>
          </p:nvPr>
        </p:nvSpPr>
        <p:spPr>
          <a:xfrm>
            <a:off x="722375" y="1245725"/>
            <a:ext cx="2881800" cy="9183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spcBef>
                <a:spcPts val="0"/>
              </a:spcBef>
              <a:spcAft>
                <a:spcPts val="0"/>
              </a:spcAft>
              <a:buSzPts val="1200"/>
              <a:buNone/>
              <a:defRPr/>
            </a:lvl2pPr>
            <a:lvl3pPr lvl="2" algn="ctr" rtl="0">
              <a:spcBef>
                <a:spcPts val="0"/>
              </a:spcBef>
              <a:spcAft>
                <a:spcPts val="0"/>
              </a:spcAft>
              <a:buSzPts val="1200"/>
              <a:buNone/>
              <a:defRPr/>
            </a:lvl3pPr>
            <a:lvl4pPr lvl="3" algn="ctr" rtl="0">
              <a:spcBef>
                <a:spcPts val="0"/>
              </a:spcBef>
              <a:spcAft>
                <a:spcPts val="0"/>
              </a:spcAft>
              <a:buSzPts val="1200"/>
              <a:buNone/>
              <a:defRPr/>
            </a:lvl4pPr>
            <a:lvl5pPr lvl="4" algn="ctr" rtl="0">
              <a:spcBef>
                <a:spcPts val="0"/>
              </a:spcBef>
              <a:spcAft>
                <a:spcPts val="0"/>
              </a:spcAft>
              <a:buSzPts val="1200"/>
              <a:buNone/>
              <a:defRPr/>
            </a:lvl5pPr>
            <a:lvl6pPr lvl="5" algn="ctr" rtl="0">
              <a:spcBef>
                <a:spcPts val="0"/>
              </a:spcBef>
              <a:spcAft>
                <a:spcPts val="0"/>
              </a:spcAft>
              <a:buSzPts val="1200"/>
              <a:buNone/>
              <a:defRPr/>
            </a:lvl6pPr>
            <a:lvl7pPr lvl="6" algn="ctr" rtl="0">
              <a:spcBef>
                <a:spcPts val="0"/>
              </a:spcBef>
              <a:spcAft>
                <a:spcPts val="0"/>
              </a:spcAft>
              <a:buSzPts val="1200"/>
              <a:buNone/>
              <a:defRPr/>
            </a:lvl7pPr>
            <a:lvl8pPr lvl="7" algn="ctr" rtl="0">
              <a:spcBef>
                <a:spcPts val="0"/>
              </a:spcBef>
              <a:spcAft>
                <a:spcPts val="0"/>
              </a:spcAft>
              <a:buSzPts val="1200"/>
              <a:buNone/>
              <a:defRPr/>
            </a:lvl8pPr>
            <a:lvl9pPr lvl="8" algn="ctr" rtl="0">
              <a:spcBef>
                <a:spcPts val="0"/>
              </a:spcBef>
              <a:spcAft>
                <a:spcPts val="0"/>
              </a:spcAft>
              <a:buSzPts val="1200"/>
              <a:buNone/>
              <a:defRPr/>
            </a:lvl9pPr>
          </a:lstStyle>
          <a:p>
            <a:endParaRPr/>
          </a:p>
        </p:txBody>
      </p:sp>
      <p:grpSp>
        <p:nvGrpSpPr>
          <p:cNvPr id="96" name="Google Shape;96;p15"/>
          <p:cNvGrpSpPr/>
          <p:nvPr/>
        </p:nvGrpSpPr>
        <p:grpSpPr>
          <a:xfrm>
            <a:off x="-2705310" y="-2074167"/>
            <a:ext cx="13822274" cy="8943650"/>
            <a:chOff x="-2705310" y="-2074167"/>
            <a:chExt cx="13822274" cy="8943650"/>
          </a:xfrm>
        </p:grpSpPr>
        <p:sp>
          <p:nvSpPr>
            <p:cNvPr id="97" name="Google Shape;97;p15"/>
            <p:cNvSpPr/>
            <p:nvPr/>
          </p:nvSpPr>
          <p:spPr>
            <a:xfrm rot="2700000">
              <a:off x="7843928" y="-15126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98" name="Google Shape;98;p15"/>
            <p:cNvSpPr/>
            <p:nvPr/>
          </p:nvSpPr>
          <p:spPr>
            <a:xfrm rot="2700000">
              <a:off x="-2143746" y="3596447"/>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
        <p:nvSpPr>
          <p:cNvPr id="99" name="Google Shape;99;p15"/>
          <p:cNvSpPr/>
          <p:nvPr/>
        </p:nvSpPr>
        <p:spPr>
          <a:xfrm rot="2700000">
            <a:off x="7780609" y="4008964"/>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168"/>
        <p:cNvGrpSpPr/>
        <p:nvPr/>
      </p:nvGrpSpPr>
      <p:grpSpPr>
        <a:xfrm>
          <a:off x="0" y="0"/>
          <a:ext cx="0" cy="0"/>
          <a:chOff x="0" y="0"/>
          <a:chExt cx="0" cy="0"/>
        </a:xfrm>
      </p:grpSpPr>
      <p:grpSp>
        <p:nvGrpSpPr>
          <p:cNvPr id="169" name="Google Shape;169;p24"/>
          <p:cNvGrpSpPr/>
          <p:nvPr/>
        </p:nvGrpSpPr>
        <p:grpSpPr>
          <a:xfrm>
            <a:off x="-2478672" y="-887292"/>
            <a:ext cx="14290512" cy="6846342"/>
            <a:chOff x="-2478672" y="-887292"/>
            <a:chExt cx="14290512" cy="6846342"/>
          </a:xfrm>
        </p:grpSpPr>
        <p:sp>
          <p:nvSpPr>
            <p:cNvPr id="170" name="Google Shape;170;p24"/>
            <p:cNvSpPr/>
            <p:nvPr/>
          </p:nvSpPr>
          <p:spPr>
            <a:xfrm rot="2700000">
              <a:off x="8538803" y="-325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171" name="Google Shape;171;p24"/>
            <p:cNvSpPr/>
            <p:nvPr/>
          </p:nvSpPr>
          <p:spPr>
            <a:xfrm rot="2700000">
              <a:off x="-1917108" y="26860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grpSp>
        <p:nvGrpSpPr>
          <p:cNvPr id="172" name="Google Shape;172;p24"/>
          <p:cNvGrpSpPr/>
          <p:nvPr/>
        </p:nvGrpSpPr>
        <p:grpSpPr>
          <a:xfrm>
            <a:off x="910943" y="-2074167"/>
            <a:ext cx="7438147" cy="9291817"/>
            <a:chOff x="910943" y="-2074167"/>
            <a:chExt cx="7438147" cy="9291817"/>
          </a:xfrm>
        </p:grpSpPr>
        <p:sp>
          <p:nvSpPr>
            <p:cNvPr id="173" name="Google Shape;173;p24"/>
            <p:cNvSpPr/>
            <p:nvPr/>
          </p:nvSpPr>
          <p:spPr>
            <a:xfrm rot="2700000">
              <a:off x="5076054" y="-15126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174" name="Google Shape;174;p24"/>
            <p:cNvSpPr/>
            <p:nvPr/>
          </p:nvSpPr>
          <p:spPr>
            <a:xfrm rot="2700000">
              <a:off x="1472507" y="39446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2375" y="539500"/>
            <a:ext cx="76992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200"/>
              <a:buFont typeface="Abel"/>
              <a:buNone/>
              <a:defRPr sz="3200" b="1">
                <a:solidFill>
                  <a:schemeClr val="dk1"/>
                </a:solidFill>
                <a:latin typeface="Abel"/>
                <a:ea typeface="Abel"/>
                <a:cs typeface="Abel"/>
                <a:sym typeface="Abel"/>
              </a:defRPr>
            </a:lvl1pPr>
            <a:lvl2pPr lvl="1">
              <a:spcBef>
                <a:spcPts val="0"/>
              </a:spcBef>
              <a:spcAft>
                <a:spcPts val="0"/>
              </a:spcAft>
              <a:buClr>
                <a:schemeClr val="dk1"/>
              </a:buClr>
              <a:buSzPts val="3200"/>
              <a:buFont typeface="Abel"/>
              <a:buNone/>
              <a:defRPr sz="3200" b="1">
                <a:solidFill>
                  <a:schemeClr val="dk1"/>
                </a:solidFill>
                <a:latin typeface="Abel"/>
                <a:ea typeface="Abel"/>
                <a:cs typeface="Abel"/>
                <a:sym typeface="Abel"/>
              </a:defRPr>
            </a:lvl2pPr>
            <a:lvl3pPr lvl="2">
              <a:spcBef>
                <a:spcPts val="0"/>
              </a:spcBef>
              <a:spcAft>
                <a:spcPts val="0"/>
              </a:spcAft>
              <a:buClr>
                <a:schemeClr val="dk1"/>
              </a:buClr>
              <a:buSzPts val="3200"/>
              <a:buFont typeface="Abel"/>
              <a:buNone/>
              <a:defRPr sz="3200" b="1">
                <a:solidFill>
                  <a:schemeClr val="dk1"/>
                </a:solidFill>
                <a:latin typeface="Abel"/>
                <a:ea typeface="Abel"/>
                <a:cs typeface="Abel"/>
                <a:sym typeface="Abel"/>
              </a:defRPr>
            </a:lvl3pPr>
            <a:lvl4pPr lvl="3">
              <a:spcBef>
                <a:spcPts val="0"/>
              </a:spcBef>
              <a:spcAft>
                <a:spcPts val="0"/>
              </a:spcAft>
              <a:buClr>
                <a:schemeClr val="dk1"/>
              </a:buClr>
              <a:buSzPts val="3200"/>
              <a:buFont typeface="Abel"/>
              <a:buNone/>
              <a:defRPr sz="3200" b="1">
                <a:solidFill>
                  <a:schemeClr val="dk1"/>
                </a:solidFill>
                <a:latin typeface="Abel"/>
                <a:ea typeface="Abel"/>
                <a:cs typeface="Abel"/>
                <a:sym typeface="Abel"/>
              </a:defRPr>
            </a:lvl4pPr>
            <a:lvl5pPr lvl="4">
              <a:spcBef>
                <a:spcPts val="0"/>
              </a:spcBef>
              <a:spcAft>
                <a:spcPts val="0"/>
              </a:spcAft>
              <a:buClr>
                <a:schemeClr val="dk1"/>
              </a:buClr>
              <a:buSzPts val="3200"/>
              <a:buFont typeface="Abel"/>
              <a:buNone/>
              <a:defRPr sz="3200" b="1">
                <a:solidFill>
                  <a:schemeClr val="dk1"/>
                </a:solidFill>
                <a:latin typeface="Abel"/>
                <a:ea typeface="Abel"/>
                <a:cs typeface="Abel"/>
                <a:sym typeface="Abel"/>
              </a:defRPr>
            </a:lvl5pPr>
            <a:lvl6pPr lvl="5">
              <a:spcBef>
                <a:spcPts val="0"/>
              </a:spcBef>
              <a:spcAft>
                <a:spcPts val="0"/>
              </a:spcAft>
              <a:buClr>
                <a:schemeClr val="dk1"/>
              </a:buClr>
              <a:buSzPts val="3200"/>
              <a:buFont typeface="Abel"/>
              <a:buNone/>
              <a:defRPr sz="3200" b="1">
                <a:solidFill>
                  <a:schemeClr val="dk1"/>
                </a:solidFill>
                <a:latin typeface="Abel"/>
                <a:ea typeface="Abel"/>
                <a:cs typeface="Abel"/>
                <a:sym typeface="Abel"/>
              </a:defRPr>
            </a:lvl6pPr>
            <a:lvl7pPr lvl="6">
              <a:spcBef>
                <a:spcPts val="0"/>
              </a:spcBef>
              <a:spcAft>
                <a:spcPts val="0"/>
              </a:spcAft>
              <a:buClr>
                <a:schemeClr val="dk1"/>
              </a:buClr>
              <a:buSzPts val="3200"/>
              <a:buFont typeface="Abel"/>
              <a:buNone/>
              <a:defRPr sz="3200" b="1">
                <a:solidFill>
                  <a:schemeClr val="dk1"/>
                </a:solidFill>
                <a:latin typeface="Abel"/>
                <a:ea typeface="Abel"/>
                <a:cs typeface="Abel"/>
                <a:sym typeface="Abel"/>
              </a:defRPr>
            </a:lvl7pPr>
            <a:lvl8pPr lvl="7">
              <a:spcBef>
                <a:spcPts val="0"/>
              </a:spcBef>
              <a:spcAft>
                <a:spcPts val="0"/>
              </a:spcAft>
              <a:buClr>
                <a:schemeClr val="dk1"/>
              </a:buClr>
              <a:buSzPts val="3200"/>
              <a:buFont typeface="Abel"/>
              <a:buNone/>
              <a:defRPr sz="3200" b="1">
                <a:solidFill>
                  <a:schemeClr val="dk1"/>
                </a:solidFill>
                <a:latin typeface="Abel"/>
                <a:ea typeface="Abel"/>
                <a:cs typeface="Abel"/>
                <a:sym typeface="Abel"/>
              </a:defRPr>
            </a:lvl8pPr>
            <a:lvl9pPr lvl="8">
              <a:spcBef>
                <a:spcPts val="0"/>
              </a:spcBef>
              <a:spcAft>
                <a:spcPts val="0"/>
              </a:spcAft>
              <a:buClr>
                <a:schemeClr val="dk1"/>
              </a:buClr>
              <a:buSzPts val="3200"/>
              <a:buFont typeface="Abel"/>
              <a:buNone/>
              <a:defRPr sz="3200" b="1">
                <a:solidFill>
                  <a:schemeClr val="dk1"/>
                </a:solidFill>
                <a:latin typeface="Abel"/>
                <a:ea typeface="Abel"/>
                <a:cs typeface="Abel"/>
                <a:sym typeface="Abel"/>
              </a:defRPr>
            </a:lvl9pPr>
          </a:lstStyle>
          <a:p>
            <a:endParaRPr/>
          </a:p>
        </p:txBody>
      </p:sp>
      <p:sp>
        <p:nvSpPr>
          <p:cNvPr id="7" name="Google Shape;7;p1"/>
          <p:cNvSpPr txBox="1">
            <a:spLocks noGrp="1"/>
          </p:cNvSpPr>
          <p:nvPr>
            <p:ph type="body" idx="1"/>
          </p:nvPr>
        </p:nvSpPr>
        <p:spPr>
          <a:xfrm>
            <a:off x="722375" y="1187600"/>
            <a:ext cx="76992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1pPr>
            <a:lvl2pPr marL="914400" lvl="1"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2pPr>
            <a:lvl3pPr marL="1371600" lvl="2"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3pPr>
            <a:lvl4pPr marL="1828800" lvl="3"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4pPr>
            <a:lvl5pPr marL="2286000" lvl="4"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5pPr>
            <a:lvl6pPr marL="2743200" lvl="5"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6pPr>
            <a:lvl7pPr marL="3200400" lvl="6"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7pPr>
            <a:lvl8pPr marL="3657600" lvl="7"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8pPr>
            <a:lvl9pPr marL="4114800" lvl="8" indent="-304800">
              <a:lnSpc>
                <a:spcPct val="100000"/>
              </a:lnSpc>
              <a:spcBef>
                <a:spcPts val="0"/>
              </a:spcBef>
              <a:spcAft>
                <a:spcPts val="0"/>
              </a:spcAft>
              <a:buClr>
                <a:schemeClr val="dk1"/>
              </a:buClr>
              <a:buSzPts val="1200"/>
              <a:buFont typeface="Comfortaa"/>
              <a:buChar char="■"/>
              <a:defRPr sz="1200">
                <a:solidFill>
                  <a:schemeClr val="dk1"/>
                </a:solidFill>
                <a:latin typeface="Comfortaa"/>
                <a:ea typeface="Comfortaa"/>
                <a:cs typeface="Comfortaa"/>
                <a:sym typeface="Comfortaa"/>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 id="2147483661"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hyperlink" Target="https://www.kaggle.com/datasets/emmanuelfwerr/thyroid-disease-data?utm_source=chatgpt.com"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8"/>
          <p:cNvPicPr preferRelativeResize="0"/>
          <p:nvPr/>
        </p:nvPicPr>
        <p:blipFill rotWithShape="1">
          <a:blip r:embed="rId3">
            <a:alphaModFix/>
          </a:blip>
          <a:srcRect l="-4336" t="-4371" r="-4336" b="-4371"/>
          <a:stretch/>
        </p:blipFill>
        <p:spPr>
          <a:xfrm>
            <a:off x="5214453" y="742950"/>
            <a:ext cx="3657600" cy="3657600"/>
          </a:xfrm>
          <a:prstGeom prst="diamond">
            <a:avLst/>
          </a:prstGeom>
          <a:noFill/>
          <a:ln>
            <a:noFill/>
          </a:ln>
        </p:spPr>
      </p:pic>
      <p:sp>
        <p:nvSpPr>
          <p:cNvPr id="186" name="Google Shape;186;p28"/>
          <p:cNvSpPr txBox="1">
            <a:spLocks noGrp="1"/>
          </p:cNvSpPr>
          <p:nvPr>
            <p:ph type="ctrTitle"/>
          </p:nvPr>
        </p:nvSpPr>
        <p:spPr>
          <a:xfrm>
            <a:off x="391887" y="898071"/>
            <a:ext cx="5110842" cy="2701205"/>
          </a:xfrm>
          <a:prstGeom prst="rect">
            <a:avLst/>
          </a:prstGeom>
        </p:spPr>
        <p:txBody>
          <a:bodyPr spcFirstLastPara="1" wrap="square" lIns="91425" tIns="91425" rIns="91425" bIns="91425" anchor="b" anchorCtr="0">
            <a:noAutofit/>
          </a:bodyPr>
          <a:lstStyle/>
          <a:p>
            <a:pPr lvl="0"/>
            <a:r>
              <a:rPr lang="en-US" sz="3600" dirty="0">
                <a:solidFill>
                  <a:schemeClr val="tx1">
                    <a:lumMod val="50000"/>
                  </a:schemeClr>
                </a:solidFill>
                <a:latin typeface="Times New Roman" panose="02020603050405020304" pitchFamily="18" charset="0"/>
                <a:cs typeface="Times New Roman" panose="02020603050405020304" pitchFamily="18" charset="0"/>
              </a:rPr>
              <a:t>Enhancing Thyroid Disease Diagnosis with Machine Learning and Counterfactual Explainable AI</a:t>
            </a:r>
            <a:endParaRPr sz="3600" dirty="0">
              <a:solidFill>
                <a:schemeClr val="tx1">
                  <a:lumMod val="50000"/>
                </a:schemeClr>
              </a:solidFill>
              <a:latin typeface="Times New Roman" panose="02020603050405020304" pitchFamily="18" charset="0"/>
              <a:cs typeface="Times New Roman" panose="02020603050405020304" pitchFamily="18" charset="0"/>
            </a:endParaRPr>
          </a:p>
        </p:txBody>
      </p:sp>
      <p:grpSp>
        <p:nvGrpSpPr>
          <p:cNvPr id="188" name="Google Shape;188;p28"/>
          <p:cNvGrpSpPr/>
          <p:nvPr/>
        </p:nvGrpSpPr>
        <p:grpSpPr>
          <a:xfrm>
            <a:off x="-1001422" y="-2855208"/>
            <a:ext cx="11873750" cy="4139400"/>
            <a:chOff x="-1001422" y="-2855208"/>
            <a:chExt cx="11873750" cy="4139400"/>
          </a:xfrm>
        </p:grpSpPr>
        <p:sp>
          <p:nvSpPr>
            <p:cNvPr id="189" name="Google Shape;189;p28"/>
            <p:cNvSpPr/>
            <p:nvPr/>
          </p:nvSpPr>
          <p:spPr>
            <a:xfrm rot="-2700000" flipH="1">
              <a:off x="7599292" y="-1988844"/>
              <a:ext cx="2711472" cy="2711472"/>
            </a:xfrm>
            <a:prstGeom prst="roundRect">
              <a:avLst>
                <a:gd name="adj" fmla="val 16667"/>
              </a:avLst>
            </a:prstGeom>
            <a:solidFill>
              <a:srgbClr val="739B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190" name="Google Shape;190;p28"/>
            <p:cNvSpPr/>
            <p:nvPr/>
          </p:nvSpPr>
          <p:spPr>
            <a:xfrm rot="-2700000" flipH="1">
              <a:off x="3775742" y="-218194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191" name="Google Shape;191;p28"/>
            <p:cNvSpPr/>
            <p:nvPr/>
          </p:nvSpPr>
          <p:spPr>
            <a:xfrm rot="-2700000" flipH="1">
              <a:off x="-439858" y="-2293644"/>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grpSp>
        <p:nvGrpSpPr>
          <p:cNvPr id="192" name="Google Shape;192;p28"/>
          <p:cNvGrpSpPr/>
          <p:nvPr/>
        </p:nvGrpSpPr>
        <p:grpSpPr>
          <a:xfrm>
            <a:off x="3469820" y="4128606"/>
            <a:ext cx="7402507" cy="3834602"/>
            <a:chOff x="3214178" y="4128608"/>
            <a:chExt cx="7658150" cy="3834600"/>
          </a:xfrm>
        </p:grpSpPr>
        <p:sp>
          <p:nvSpPr>
            <p:cNvPr id="193" name="Google Shape;193;p28"/>
            <p:cNvSpPr/>
            <p:nvPr/>
          </p:nvSpPr>
          <p:spPr>
            <a:xfrm rot="-2700000" flipH="1">
              <a:off x="7599292" y="4690173"/>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194" name="Google Shape;194;p28"/>
            <p:cNvSpPr/>
            <p:nvPr/>
          </p:nvSpPr>
          <p:spPr>
            <a:xfrm rot="-2700000" flipH="1">
              <a:off x="3775742" y="4690173"/>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grpSp>
      <p:sp>
        <p:nvSpPr>
          <p:cNvPr id="15" name="Google Shape;234;p31">
            <a:extLst>
              <a:ext uri="{FF2B5EF4-FFF2-40B4-BE49-F238E27FC236}">
                <a16:creationId xmlns:a16="http://schemas.microsoft.com/office/drawing/2014/main" id="{F7B800CF-581E-FF97-3120-7A77F58A75E1}"/>
              </a:ext>
            </a:extLst>
          </p:cNvPr>
          <p:cNvSpPr txBox="1">
            <a:spLocks/>
          </p:cNvSpPr>
          <p:nvPr/>
        </p:nvSpPr>
        <p:spPr>
          <a:xfrm>
            <a:off x="187779" y="3710976"/>
            <a:ext cx="3067922" cy="137914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1pPr>
            <a:lvl2pPr marR="0" lvl="1"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2pPr>
            <a:lvl3pPr marR="0" lvl="2"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3pPr>
            <a:lvl4pPr marR="0" lvl="3"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4pPr>
            <a:lvl5pPr marR="0" lvl="4"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5pPr>
            <a:lvl6pPr marR="0" lvl="5"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6pPr>
            <a:lvl7pPr marR="0" lvl="6"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7pPr>
            <a:lvl8pPr marR="0" lvl="7"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8pPr>
            <a:lvl9pPr marR="0" lvl="8" algn="ctr" rtl="0">
              <a:lnSpc>
                <a:spcPct val="100000"/>
              </a:lnSpc>
              <a:spcBef>
                <a:spcPts val="0"/>
              </a:spcBef>
              <a:spcAft>
                <a:spcPts val="0"/>
              </a:spcAft>
              <a:buClr>
                <a:schemeClr val="dk1"/>
              </a:buClr>
              <a:buSzPts val="5200"/>
              <a:buFont typeface="Abel"/>
              <a:buNone/>
              <a:defRPr sz="5200" b="1" i="0" u="none" strike="noStrike" cap="none">
                <a:solidFill>
                  <a:schemeClr val="dk1"/>
                </a:solidFill>
                <a:latin typeface="Abel"/>
                <a:ea typeface="Abel"/>
                <a:cs typeface="Abel"/>
                <a:sym typeface="Abel"/>
              </a:defRPr>
            </a:lvl9pPr>
          </a:lstStyle>
          <a:p>
            <a:pPr algn="ctr"/>
            <a:r>
              <a:rPr lang="en-IN" sz="2000" spc="-10" dirty="0">
                <a:solidFill>
                  <a:srgbClr val="FF0000"/>
                </a:solidFill>
                <a:latin typeface="Times New Roman" panose="02020603050405020304" pitchFamily="18" charset="0"/>
                <a:cs typeface="Times New Roman" panose="02020603050405020304" pitchFamily="18" charset="0"/>
              </a:rPr>
              <a:t>PRESENTED BY</a:t>
            </a:r>
          </a:p>
          <a:p>
            <a:pPr algn="ctr"/>
            <a:r>
              <a:rPr lang="en-IN" sz="1800" spc="-10" dirty="0">
                <a:solidFill>
                  <a:srgbClr val="0B131B"/>
                </a:solidFill>
                <a:latin typeface="Times New Roman" panose="02020603050405020304" pitchFamily="18" charset="0"/>
                <a:cs typeface="Times New Roman" panose="02020603050405020304" pitchFamily="18" charset="0"/>
              </a:rPr>
              <a:t>J.VINAY</a:t>
            </a:r>
          </a:p>
          <a:p>
            <a:pPr algn="ctr">
              <a:lnSpc>
                <a:spcPct val="150000"/>
              </a:lnSpc>
            </a:pPr>
            <a:r>
              <a:rPr lang="en-IN" sz="1800" spc="-10" dirty="0">
                <a:solidFill>
                  <a:srgbClr val="0B131B"/>
                </a:solidFill>
                <a:latin typeface="Times New Roman" panose="02020603050405020304" pitchFamily="18" charset="0"/>
                <a:cs typeface="Times New Roman" panose="02020603050405020304" pitchFamily="18" charset="0"/>
              </a:rPr>
              <a:t>ROLL NO: 4511-23-733-070</a:t>
            </a:r>
            <a:endParaRPr lang="en-IN" sz="1800" dirty="0">
              <a:solidFill>
                <a:srgbClr val="0B131B"/>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9"/>
          <p:cNvSpPr txBox="1">
            <a:spLocks noGrp="1"/>
          </p:cNvSpPr>
          <p:nvPr>
            <p:ph type="title"/>
          </p:nvPr>
        </p:nvSpPr>
        <p:spPr>
          <a:xfrm>
            <a:off x="1630650" y="175029"/>
            <a:ext cx="5768400" cy="91082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solidFill>
                  <a:srgbClr val="00B050"/>
                </a:solidFill>
                <a:latin typeface="Times New Roman" panose="02020603050405020304" pitchFamily="18" charset="0"/>
                <a:cs typeface="Times New Roman" panose="02020603050405020304" pitchFamily="18" charset="0"/>
              </a:rPr>
              <a:t>Contents</a:t>
            </a:r>
            <a:r>
              <a:rPr lang="en" sz="6000" dirty="0">
                <a:solidFill>
                  <a:srgbClr val="00B050"/>
                </a:solidFill>
              </a:rPr>
              <a:t> </a:t>
            </a:r>
            <a:endParaRPr sz="6000" dirty="0">
              <a:solidFill>
                <a:srgbClr val="00B050"/>
              </a:solidFill>
            </a:endParaRPr>
          </a:p>
        </p:txBody>
      </p:sp>
      <p:sp>
        <p:nvSpPr>
          <p:cNvPr id="2" name="Subtitle 1">
            <a:extLst>
              <a:ext uri="{FF2B5EF4-FFF2-40B4-BE49-F238E27FC236}">
                <a16:creationId xmlns:a16="http://schemas.microsoft.com/office/drawing/2014/main" id="{E00C3A66-2E7A-0B15-ACA4-548CB32C3C24}"/>
              </a:ext>
            </a:extLst>
          </p:cNvPr>
          <p:cNvSpPr>
            <a:spLocks noGrp="1"/>
          </p:cNvSpPr>
          <p:nvPr>
            <p:ph type="subTitle" idx="1"/>
          </p:nvPr>
        </p:nvSpPr>
        <p:spPr>
          <a:xfrm>
            <a:off x="861332" y="1085852"/>
            <a:ext cx="7421336" cy="3992334"/>
          </a:xfrm>
        </p:spPr>
        <p:txBody>
          <a:bodyPr/>
          <a:lstStyle/>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ABSTRACT</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INTRODUCTION</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LITERATURE SURVEY</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EXISTING SYSTEM    </a:t>
            </a:r>
          </a:p>
          <a:p>
            <a:pPr marL="450045" lvl="1"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DISADVANTAGES     </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PROPOSED SYSTEM</a:t>
            </a:r>
          </a:p>
          <a:p>
            <a:pPr marL="450045" lvl="1"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ADVANTAGES</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SYSTEM REQUIREMENTS</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SYSTEM ARCHITECTURE</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MODULES</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UML DIAGRAMS</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FUTURE SCOPE</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CONCLUSION</a:t>
            </a:r>
          </a:p>
          <a:p>
            <a:pPr marL="192876" indent="-192876" algn="just">
              <a:lnSpc>
                <a:spcPct val="150000"/>
              </a:lnSpc>
              <a:buFont typeface="Wingdings" panose="05000000000000000000" pitchFamily="2" charset="2"/>
              <a:buChar char="v"/>
            </a:pPr>
            <a:r>
              <a:rPr lang="en-IN" dirty="0">
                <a:solidFill>
                  <a:schemeClr val="tx1">
                    <a:lumMod val="95000"/>
                    <a:lumOff val="5000"/>
                  </a:schemeClr>
                </a:solidFill>
                <a:latin typeface="Times New Roman" panose="02020603050405020304" pitchFamily="18" charset="0"/>
                <a:cs typeface="Times New Roman" panose="02020603050405020304" pitchFamily="18" charset="0"/>
              </a:rPr>
              <a:t> REFERENCES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pic>
        <p:nvPicPr>
          <p:cNvPr id="232" name="Google Shape;232;p31"/>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p:cNvSpPr txBox="1">
            <a:spLocks noGrp="1"/>
          </p:cNvSpPr>
          <p:nvPr>
            <p:ph type="title"/>
          </p:nvPr>
        </p:nvSpPr>
        <p:spPr>
          <a:xfrm>
            <a:off x="4572000" y="2408463"/>
            <a:ext cx="4163785" cy="1377661"/>
          </a:xfrm>
          <a:prstGeom prst="rect">
            <a:avLst/>
          </a:prstGeom>
        </p:spPr>
        <p:txBody>
          <a:bodyPr spcFirstLastPara="1" wrap="square" lIns="91425" tIns="91425" rIns="91425" bIns="91425" anchor="t" anchorCtr="0">
            <a:noAutofit/>
          </a:bodyPr>
          <a:lstStyle/>
          <a:p>
            <a:pPr lvl="0" algn="ctr"/>
            <a:r>
              <a:rPr lang="en-IN" sz="4800" spc="-10" dirty="0">
                <a:solidFill>
                  <a:srgbClr val="00B050"/>
                </a:solidFill>
                <a:latin typeface="Times New Roman" panose="02020603050405020304" pitchFamily="18" charset="0"/>
                <a:cs typeface="Times New Roman" panose="02020603050405020304" pitchFamily="18" charset="0"/>
              </a:rPr>
              <a:t>ABSTRACT</a:t>
            </a:r>
            <a:endParaRPr sz="4800" dirty="0">
              <a:solidFill>
                <a:srgbClr val="00B050"/>
              </a:solidFill>
              <a:latin typeface="Times New Roman" panose="02020603050405020304" pitchFamily="18" charset="0"/>
              <a:cs typeface="Times New Roman" panose="02020603050405020304" pitchFamily="18" charset="0"/>
            </a:endParaRPr>
          </a:p>
        </p:txBody>
      </p:sp>
      <p:sp>
        <p:nvSpPr>
          <p:cNvPr id="236" name="Google Shape;236;p31"/>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32"/>
          <p:cNvSpPr txBox="1">
            <a:spLocks noGrp="1"/>
          </p:cNvSpPr>
          <p:nvPr>
            <p:ph type="body" idx="1"/>
          </p:nvPr>
        </p:nvSpPr>
        <p:spPr>
          <a:xfrm>
            <a:off x="364067" y="414867"/>
            <a:ext cx="7975599" cy="4563532"/>
          </a:xfrm>
          <a:prstGeom prst="rect">
            <a:avLst/>
          </a:prstGeom>
        </p:spPr>
        <p:txBody>
          <a:bodyPr spcFirstLastPara="1" wrap="square" lIns="91425" tIns="91425" rIns="91425" bIns="91425" anchor="t" anchorCtr="0">
            <a:noAutofit/>
          </a:bodyPr>
          <a:lstStyle/>
          <a:p>
            <a:pPr marL="0" indent="0" algn="just">
              <a:lnSpc>
                <a:spcPct val="200000"/>
              </a:lnSpc>
              <a:buNone/>
            </a:pPr>
            <a:r>
              <a:rPr lang="en-US" sz="1600" dirty="0">
                <a:solidFill>
                  <a:schemeClr val="tx1">
                    <a:lumMod val="50000"/>
                  </a:schemeClr>
                </a:solidFill>
                <a:latin typeface="Times New Roman" panose="02020603050405020304" pitchFamily="18" charset="0"/>
                <a:cs typeface="Times New Roman" panose="02020603050405020304" pitchFamily="18" charset="0"/>
              </a:rPr>
              <a:t>Thyroid disease affects many people and is often difficult to detect because its symptoms are similar to other health problems. In this project, we developed a machine learning system to predict thyroid disease using a dataset from the UCI repository. We tested different algorithms such as Random Forest, </a:t>
            </a:r>
            <a:r>
              <a:rPr lang="en-US" sz="1600" dirty="0" err="1">
                <a:solidFill>
                  <a:schemeClr val="tx1">
                    <a:lumMod val="50000"/>
                  </a:schemeClr>
                </a:solidFill>
                <a:latin typeface="Times New Roman" panose="02020603050405020304" pitchFamily="18" charset="0"/>
                <a:cs typeface="Times New Roman" panose="02020603050405020304" pitchFamily="18" charset="0"/>
              </a:rPr>
              <a:t>CatBoost</a:t>
            </a:r>
            <a:r>
              <a:rPr lang="en-US" sz="1600" dirty="0">
                <a:solidFill>
                  <a:schemeClr val="tx1">
                    <a:lumMod val="50000"/>
                  </a:schemeClr>
                </a:solidFill>
                <a:latin typeface="Times New Roman" panose="02020603050405020304" pitchFamily="18" charset="0"/>
                <a:cs typeface="Times New Roman" panose="02020603050405020304" pitchFamily="18" charset="0"/>
              </a:rPr>
              <a:t>, and Support Vector Classifier to find the best model. The system achieved very high accuracy of up to 99.7% using only ten important medical features. To make the predictions easier to understand, we used Explainable AI techniques like SHAP and counterfactual analysis, which help explain how features such as TSH and FTI influence the results., it provides both accurate predictions and clear explanations, making it useful for healthcare applications.</a:t>
            </a:r>
          </a:p>
          <a:p>
            <a:pPr marL="0" lvl="0" indent="0" algn="just">
              <a:lnSpc>
                <a:spcPct val="150000"/>
              </a:lnSpc>
              <a:buNone/>
            </a:pP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82B2-0FB5-9D08-2A0C-27208F783653}"/>
              </a:ext>
            </a:extLst>
          </p:cNvPr>
          <p:cNvSpPr>
            <a:spLocks noGrp="1"/>
          </p:cNvSpPr>
          <p:nvPr>
            <p:ph type="title"/>
          </p:nvPr>
        </p:nvSpPr>
        <p:spPr>
          <a:xfrm>
            <a:off x="3807325" y="1803400"/>
            <a:ext cx="5186950" cy="2350099"/>
          </a:xfrm>
        </p:spPr>
        <p:txBody>
          <a:bodyPr/>
          <a:lstStyle/>
          <a:p>
            <a:r>
              <a:rPr lang="en-IN" sz="4800" spc="-10" dirty="0">
                <a:solidFill>
                  <a:srgbClr val="00B050"/>
                </a:solidFill>
                <a:latin typeface="Times New Roman" panose="02020603050405020304" pitchFamily="18" charset="0"/>
                <a:cs typeface="Times New Roman" panose="02020603050405020304" pitchFamily="18" charset="0"/>
              </a:rPr>
              <a:t>INTRODUCTION</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1C2F7854-C3B8-E742-1C1E-ED6FBD969F04}"/>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1886546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11" name="Text Placeholder 10">
            <a:extLst>
              <a:ext uri="{FF2B5EF4-FFF2-40B4-BE49-F238E27FC236}">
                <a16:creationId xmlns:a16="http://schemas.microsoft.com/office/drawing/2014/main" id="{E1D3BD87-700F-36E9-DA0C-889EFC35F2F9}"/>
              </a:ext>
            </a:extLst>
          </p:cNvPr>
          <p:cNvSpPr>
            <a:spLocks noGrp="1"/>
          </p:cNvSpPr>
          <p:nvPr>
            <p:ph type="body" idx="1"/>
          </p:nvPr>
        </p:nvSpPr>
        <p:spPr>
          <a:xfrm>
            <a:off x="722375" y="474133"/>
            <a:ext cx="7828958" cy="4478867"/>
          </a:xfrm>
        </p:spPr>
        <p:txBody>
          <a:bodyPr/>
          <a:lstStyle/>
          <a:p>
            <a:pPr algn="just">
              <a:lnSpc>
                <a:spcPct val="250000"/>
              </a:lnSpc>
            </a:pPr>
            <a:r>
              <a:rPr lang="en-US" sz="1600" dirty="0">
                <a:solidFill>
                  <a:schemeClr val="tx1">
                    <a:lumMod val="50000"/>
                  </a:schemeClr>
                </a:solidFill>
                <a:latin typeface="Times New Roman" panose="02020603050405020304" pitchFamily="18" charset="0"/>
                <a:cs typeface="Times New Roman" panose="02020603050405020304" pitchFamily="18" charset="0"/>
              </a:rPr>
              <a:t>Thyroid disease is a common disorder that affects hormone production and body metabolism.</a:t>
            </a:r>
          </a:p>
          <a:p>
            <a:pPr algn="just">
              <a:lnSpc>
                <a:spcPct val="250000"/>
              </a:lnSpc>
            </a:pPr>
            <a:r>
              <a:rPr lang="en-US" sz="1600" dirty="0">
                <a:solidFill>
                  <a:schemeClr val="tx1">
                    <a:lumMod val="50000"/>
                  </a:schemeClr>
                </a:solidFill>
                <a:latin typeface="Times New Roman" panose="02020603050405020304" pitchFamily="18" charset="0"/>
                <a:cs typeface="Times New Roman" panose="02020603050405020304" pitchFamily="18" charset="0"/>
              </a:rPr>
              <a:t>Early detection of thyroid disease is important to avoid serious health complications. </a:t>
            </a:r>
          </a:p>
          <a:p>
            <a:pPr algn="just">
              <a:lnSpc>
                <a:spcPct val="250000"/>
              </a:lnSpc>
            </a:pPr>
            <a:r>
              <a:rPr lang="en-US" sz="1600" dirty="0">
                <a:solidFill>
                  <a:schemeClr val="tx1">
                    <a:lumMod val="50000"/>
                  </a:schemeClr>
                </a:solidFill>
                <a:latin typeface="Times New Roman" panose="02020603050405020304" pitchFamily="18" charset="0"/>
                <a:cs typeface="Times New Roman" panose="02020603050405020304" pitchFamily="18" charset="0"/>
              </a:rPr>
              <a:t>Machine Learning techniques help in predicting thyroid disease using medical data. </a:t>
            </a:r>
          </a:p>
          <a:p>
            <a:pPr algn="just">
              <a:lnSpc>
                <a:spcPct val="250000"/>
              </a:lnSpc>
            </a:pPr>
            <a:r>
              <a:rPr lang="en-US" sz="1600" dirty="0">
                <a:solidFill>
                  <a:schemeClr val="tx1">
                    <a:lumMod val="50000"/>
                  </a:schemeClr>
                </a:solidFill>
                <a:latin typeface="Times New Roman" panose="02020603050405020304" pitchFamily="18" charset="0"/>
                <a:cs typeface="Times New Roman" panose="02020603050405020304" pitchFamily="18" charset="0"/>
              </a:rPr>
              <a:t>Explainable AI improves trust by making prediction results understandable for doctors. </a:t>
            </a:r>
          </a:p>
          <a:p>
            <a:pPr algn="just">
              <a:lnSpc>
                <a:spcPct val="250000"/>
              </a:lnSpc>
            </a:pPr>
            <a:r>
              <a:rPr lang="en-US" sz="1600" dirty="0">
                <a:solidFill>
                  <a:schemeClr val="tx1">
                    <a:lumMod val="50000"/>
                  </a:schemeClr>
                </a:solidFill>
                <a:latin typeface="Times New Roman" panose="02020603050405020304" pitchFamily="18" charset="0"/>
                <a:cs typeface="Times New Roman" panose="02020603050405020304" pitchFamily="18" charset="0"/>
              </a:rPr>
              <a:t>The proposed system provides accurate and faster thyroid disease prediction</a:t>
            </a:r>
            <a:r>
              <a:rPr lang="en-US" sz="1600" dirty="0">
                <a:solidFill>
                  <a:schemeClr val="tx1">
                    <a:lumMod val="50000"/>
                  </a:schemeClr>
                </a:solidFill>
              </a:rPr>
              <a:t>.</a:t>
            </a:r>
            <a:endParaRPr lang="en-IN" sz="1600" dirty="0">
              <a:solidFill>
                <a:schemeClr val="tx1">
                  <a:lumMod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677A2-12D3-324A-0629-55AC9957BC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9B7BB4-3F84-445B-24E5-36CD5723CBCA}"/>
              </a:ext>
            </a:extLst>
          </p:cNvPr>
          <p:cNvSpPr>
            <a:spLocks noGrp="1"/>
          </p:cNvSpPr>
          <p:nvPr>
            <p:ph type="title"/>
          </p:nvPr>
        </p:nvSpPr>
        <p:spPr>
          <a:xfrm>
            <a:off x="3807325" y="1803400"/>
            <a:ext cx="5186950" cy="2350099"/>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LITERATURE SURVEY – 1</a:t>
            </a:r>
          </a:p>
        </p:txBody>
      </p:sp>
      <p:pic>
        <p:nvPicPr>
          <p:cNvPr id="3" name="Google Shape;232;p31">
            <a:extLst>
              <a:ext uri="{FF2B5EF4-FFF2-40B4-BE49-F238E27FC236}">
                <a16:creationId xmlns:a16="http://schemas.microsoft.com/office/drawing/2014/main" id="{CAD6F124-0494-9FCD-5D2C-60F56F59B441}"/>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338808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F12C6956-4AB1-49EF-8545-61F08ECC9D9B}"/>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A8E6A8A-6514-E04D-320F-7E6B166F3E6C}"/>
              </a:ext>
            </a:extLst>
          </p:cNvPr>
          <p:cNvSpPr>
            <a:spLocks noGrp="1"/>
          </p:cNvSpPr>
          <p:nvPr>
            <p:ph type="body" idx="1"/>
          </p:nvPr>
        </p:nvSpPr>
        <p:spPr>
          <a:xfrm>
            <a:off x="722375" y="474133"/>
            <a:ext cx="8150692" cy="4478867"/>
          </a:xfrm>
        </p:spPr>
        <p:txBody>
          <a:bodyPr/>
          <a:lstStyle/>
          <a:p>
            <a:pPr algn="just">
              <a:lnSpc>
                <a:spcPct val="150000"/>
              </a:lnSpc>
              <a:buNone/>
            </a:pPr>
            <a:r>
              <a:rPr lang="en-IN" sz="2000" b="1" dirty="0">
                <a:solidFill>
                  <a:schemeClr val="tx1">
                    <a:lumMod val="50000"/>
                  </a:schemeClr>
                </a:solidFill>
                <a:latin typeface="Times New Roman" panose="02020603050405020304" pitchFamily="18" charset="0"/>
                <a:cs typeface="Times New Roman" panose="02020603050405020304" pitchFamily="18" charset="0"/>
              </a:rPr>
              <a:t>   “</a:t>
            </a:r>
            <a:r>
              <a:rPr lang="en-IN" sz="2000" b="1" dirty="0">
                <a:solidFill>
                  <a:srgbClr val="0B131B"/>
                </a:solidFill>
                <a:latin typeface="Times New Roman" panose="02020603050405020304" pitchFamily="18" charset="0"/>
                <a:cs typeface="Times New Roman" panose="02020603050405020304" pitchFamily="18" charset="0"/>
              </a:rPr>
              <a:t>Thyroid disease prediction using selective features and machine      learning techniques,” </a:t>
            </a:r>
            <a:r>
              <a:rPr lang="en-IN" sz="2000" b="1" i="1" dirty="0">
                <a:solidFill>
                  <a:srgbClr val="0B131B"/>
                </a:solidFill>
                <a:latin typeface="Times New Roman" panose="02020603050405020304" pitchFamily="18" charset="0"/>
                <a:cs typeface="Times New Roman" panose="02020603050405020304" pitchFamily="18" charset="0"/>
              </a:rPr>
              <a:t>Cancers</a:t>
            </a:r>
            <a:r>
              <a:rPr lang="en-IN" sz="2000" b="1" dirty="0">
                <a:solidFill>
                  <a:srgbClr val="0B131B"/>
                </a:solidFill>
                <a:latin typeface="Times New Roman" panose="02020603050405020304" pitchFamily="18" charset="0"/>
                <a:cs typeface="Times New Roman" panose="02020603050405020304" pitchFamily="18" charset="0"/>
              </a:rPr>
              <a:t>, R. Chaganti, F. Rustam, I. De La Torre Díez, et al., vol. 14, no. 16, p. 3914, 2022.</a:t>
            </a:r>
          </a:p>
          <a:p>
            <a:pPr>
              <a:lnSpc>
                <a:spcPct val="200000"/>
              </a:lnSpc>
              <a:buNone/>
            </a:pPr>
            <a:endParaRPr lang="en-IN" sz="1600" dirty="0"/>
          </a:p>
          <a:p>
            <a:pPr algn="just">
              <a:lnSpc>
                <a:spcPct val="200000"/>
              </a:lnSpc>
              <a:buFont typeface="Arial" panose="020B0604020202020204" pitchFamily="34" charset="0"/>
              <a:buChar char="•"/>
            </a:pPr>
            <a:r>
              <a:rPr lang="en-IN" sz="1800" b="1" dirty="0">
                <a:solidFill>
                  <a:schemeClr val="tx1">
                    <a:lumMod val="50000"/>
                  </a:schemeClr>
                </a:solidFill>
                <a:latin typeface="Times New Roman" panose="02020603050405020304" pitchFamily="18" charset="0"/>
                <a:cs typeface="Times New Roman" panose="02020603050405020304" pitchFamily="18" charset="0"/>
              </a:rPr>
              <a:t>Focus: </a:t>
            </a:r>
            <a:r>
              <a:rPr lang="en-IN" sz="1800" dirty="0">
                <a:solidFill>
                  <a:schemeClr val="tx1">
                    <a:lumMod val="50000"/>
                  </a:schemeClr>
                </a:solidFill>
                <a:latin typeface="Times New Roman" panose="02020603050405020304" pitchFamily="18" charset="0"/>
                <a:cs typeface="Times New Roman" panose="02020603050405020304" pitchFamily="18" charset="0"/>
              </a:rPr>
              <a:t>Thyroid disease prediction using feature selection methods. </a:t>
            </a:r>
          </a:p>
          <a:p>
            <a:pPr algn="just">
              <a:lnSpc>
                <a:spcPct val="200000"/>
              </a:lnSpc>
              <a:buFont typeface="Arial" panose="020B0604020202020204" pitchFamily="34" charset="0"/>
              <a:buChar char="•"/>
            </a:pPr>
            <a:r>
              <a:rPr lang="en-IN" sz="1800" b="1" dirty="0">
                <a:solidFill>
                  <a:schemeClr val="tx1">
                    <a:lumMod val="50000"/>
                  </a:schemeClr>
                </a:solidFill>
                <a:latin typeface="Times New Roman" panose="02020603050405020304" pitchFamily="18" charset="0"/>
                <a:cs typeface="Times New Roman" panose="02020603050405020304" pitchFamily="18" charset="0"/>
              </a:rPr>
              <a:t>Results: </a:t>
            </a:r>
            <a:r>
              <a:rPr lang="en-IN" sz="1800" dirty="0">
                <a:solidFill>
                  <a:schemeClr val="tx1">
                    <a:lumMod val="50000"/>
                  </a:schemeClr>
                </a:solidFill>
                <a:latin typeface="Times New Roman" panose="02020603050405020304" pitchFamily="18" charset="0"/>
                <a:cs typeface="Times New Roman" panose="02020603050405020304" pitchFamily="18" charset="0"/>
              </a:rPr>
              <a:t>Achieved high accuracy with selected important features. </a:t>
            </a:r>
          </a:p>
          <a:p>
            <a:pPr algn="just">
              <a:lnSpc>
                <a:spcPct val="200000"/>
              </a:lnSpc>
              <a:buFont typeface="Arial" panose="020B0604020202020204" pitchFamily="34" charset="0"/>
              <a:buChar char="•"/>
            </a:pPr>
            <a:r>
              <a:rPr lang="en-IN" sz="1800" b="1" dirty="0">
                <a:solidFill>
                  <a:schemeClr val="tx1">
                    <a:lumMod val="50000"/>
                  </a:schemeClr>
                </a:solidFill>
                <a:latin typeface="Times New Roman" panose="02020603050405020304" pitchFamily="18" charset="0"/>
                <a:cs typeface="Times New Roman" panose="02020603050405020304" pitchFamily="18" charset="0"/>
              </a:rPr>
              <a:t>Drawback: </a:t>
            </a:r>
            <a:r>
              <a:rPr lang="en-IN" sz="1800" dirty="0">
                <a:solidFill>
                  <a:schemeClr val="tx1">
                    <a:lumMod val="50000"/>
                  </a:schemeClr>
                </a:solidFill>
                <a:latin typeface="Times New Roman" panose="02020603050405020304" pitchFamily="18" charset="0"/>
                <a:cs typeface="Times New Roman" panose="02020603050405020304" pitchFamily="18" charset="0"/>
              </a:rPr>
              <a:t>Limited external validation and class imbalance issues. </a:t>
            </a:r>
          </a:p>
          <a:p>
            <a:pPr algn="just">
              <a:lnSpc>
                <a:spcPct val="200000"/>
              </a:lnSpc>
              <a:buFont typeface="Arial" panose="020B0604020202020204" pitchFamily="34" charset="0"/>
              <a:buChar char="•"/>
            </a:pPr>
            <a:r>
              <a:rPr lang="en-IN" sz="1800" b="1" dirty="0">
                <a:solidFill>
                  <a:schemeClr val="tx1">
                    <a:lumMod val="50000"/>
                  </a:schemeClr>
                </a:solidFill>
                <a:latin typeface="Times New Roman" panose="02020603050405020304" pitchFamily="18" charset="0"/>
                <a:cs typeface="Times New Roman" panose="02020603050405020304" pitchFamily="18" charset="0"/>
              </a:rPr>
              <a:t>Conclusion: </a:t>
            </a:r>
            <a:r>
              <a:rPr lang="en-IN" sz="1800" dirty="0">
                <a:solidFill>
                  <a:schemeClr val="tx1">
                    <a:lumMod val="50000"/>
                  </a:schemeClr>
                </a:solidFill>
                <a:latin typeface="Times New Roman" panose="02020603050405020304" pitchFamily="18" charset="0"/>
                <a:cs typeface="Times New Roman" panose="02020603050405020304" pitchFamily="18" charset="0"/>
              </a:rPr>
              <a:t>Feature selection improves efficiency and model accuracy. </a:t>
            </a:r>
          </a:p>
          <a:p>
            <a:pPr algn="just">
              <a:lnSpc>
                <a:spcPct val="200000"/>
              </a:lnSpc>
            </a:pPr>
            <a:endParaRPr lang="en-IN" sz="1600" dirty="0"/>
          </a:p>
        </p:txBody>
      </p:sp>
    </p:spTree>
    <p:extLst>
      <p:ext uri="{BB962C8B-B14F-4D97-AF65-F5344CB8AC3E}">
        <p14:creationId xmlns:p14="http://schemas.microsoft.com/office/powerpoint/2010/main" val="1382685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DF83F-213F-987A-15A9-C631F15DC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FD3AC-04EC-7869-11CC-F775670287E5}"/>
              </a:ext>
            </a:extLst>
          </p:cNvPr>
          <p:cNvSpPr>
            <a:spLocks noGrp="1"/>
          </p:cNvSpPr>
          <p:nvPr>
            <p:ph type="title"/>
          </p:nvPr>
        </p:nvSpPr>
        <p:spPr>
          <a:xfrm>
            <a:off x="3807325" y="1803400"/>
            <a:ext cx="5186950" cy="2350099"/>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LITERATURE SURVEY – 2</a:t>
            </a:r>
          </a:p>
        </p:txBody>
      </p:sp>
      <p:pic>
        <p:nvPicPr>
          <p:cNvPr id="3" name="Google Shape;232;p31">
            <a:extLst>
              <a:ext uri="{FF2B5EF4-FFF2-40B4-BE49-F238E27FC236}">
                <a16:creationId xmlns:a16="http://schemas.microsoft.com/office/drawing/2014/main" id="{CC5BF5CD-E75E-57D5-A924-5E7F6EB9F37F}"/>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317899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C21F5E9A-45D3-8CFB-800E-A4081D4799C1}"/>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1F68BF6E-AE3D-C5B2-F4CE-790AC3A9C076}"/>
              </a:ext>
            </a:extLst>
          </p:cNvPr>
          <p:cNvSpPr>
            <a:spLocks noGrp="1"/>
          </p:cNvSpPr>
          <p:nvPr>
            <p:ph type="body" idx="1"/>
          </p:nvPr>
        </p:nvSpPr>
        <p:spPr>
          <a:xfrm>
            <a:off x="668867" y="457200"/>
            <a:ext cx="7907866" cy="4351868"/>
          </a:xfrm>
        </p:spPr>
        <p:txBody>
          <a:bodyPr/>
          <a:lstStyle/>
          <a:p>
            <a:pPr marL="152400" indent="0" algn="just">
              <a:lnSpc>
                <a:spcPct val="150000"/>
              </a:lnSpc>
              <a:buNone/>
            </a:pPr>
            <a:r>
              <a:rPr lang="en-IN" sz="2000" b="1" dirty="0">
                <a:solidFill>
                  <a:schemeClr val="tx1">
                    <a:lumMod val="50000"/>
                  </a:schemeClr>
                </a:solidFill>
                <a:latin typeface="Times New Roman" panose="02020603050405020304" pitchFamily="18" charset="0"/>
                <a:cs typeface="Times New Roman" panose="02020603050405020304" pitchFamily="18" charset="0"/>
              </a:rPr>
              <a:t>“Machine learning approaches for thyroid disease diagnosis,” </a:t>
            </a:r>
            <a:r>
              <a:rPr lang="en-IN" sz="2000" b="1" i="1" dirty="0">
                <a:solidFill>
                  <a:schemeClr val="tx1">
                    <a:lumMod val="50000"/>
                  </a:schemeClr>
                </a:solidFill>
                <a:latin typeface="Times New Roman" panose="02020603050405020304" pitchFamily="18" charset="0"/>
                <a:cs typeface="Times New Roman" panose="02020603050405020304" pitchFamily="18" charset="0"/>
              </a:rPr>
              <a:t>Computers in Biology and Medicine</a:t>
            </a:r>
            <a:r>
              <a:rPr lang="en-IN" sz="2000" b="1" dirty="0">
                <a:solidFill>
                  <a:schemeClr val="tx1">
                    <a:lumMod val="50000"/>
                  </a:schemeClr>
                </a:solidFill>
                <a:latin typeface="Times New Roman" panose="02020603050405020304" pitchFamily="18" charset="0"/>
                <a:cs typeface="Times New Roman" panose="02020603050405020304" pitchFamily="18" charset="0"/>
              </a:rPr>
              <a:t>, M. Islam, R. Ferdousi, and S. Rahman, vol. 125, p. 103990, 2020.</a:t>
            </a:r>
          </a:p>
          <a:p>
            <a:pPr marL="152400" indent="0" algn="just">
              <a:buNone/>
            </a:pPr>
            <a:endParaRPr lang="en-IN" sz="2000" b="1" dirty="0">
              <a:solidFill>
                <a:schemeClr val="tx1">
                  <a:lumMod val="50000"/>
                </a:schemeClr>
              </a:solidFill>
              <a:latin typeface="Times New Roman" panose="02020603050405020304" pitchFamily="18" charset="0"/>
              <a:cs typeface="Times New Roman" panose="02020603050405020304" pitchFamily="18" charset="0"/>
            </a:endParaRPr>
          </a:p>
          <a:p>
            <a:pPr algn="just">
              <a:lnSpc>
                <a:spcPct val="250000"/>
              </a:lnSpc>
            </a:pPr>
            <a:r>
              <a:rPr lang="en-IN" sz="1800" b="1" dirty="0">
                <a:solidFill>
                  <a:schemeClr val="tx1">
                    <a:lumMod val="50000"/>
                  </a:schemeClr>
                </a:solidFill>
                <a:latin typeface="Times New Roman" panose="02020603050405020304" pitchFamily="18" charset="0"/>
                <a:cs typeface="Times New Roman" panose="02020603050405020304" pitchFamily="18" charset="0"/>
              </a:rPr>
              <a:t>Focus: </a:t>
            </a:r>
            <a:r>
              <a:rPr lang="en-IN" sz="1800" dirty="0">
                <a:solidFill>
                  <a:schemeClr val="tx1">
                    <a:lumMod val="50000"/>
                  </a:schemeClr>
                </a:solidFill>
                <a:latin typeface="Times New Roman" panose="02020603050405020304" pitchFamily="18" charset="0"/>
                <a:cs typeface="Times New Roman" panose="02020603050405020304" pitchFamily="18" charset="0"/>
              </a:rPr>
              <a:t>Thyroid disease diagnosis using machine learning approaches. </a:t>
            </a:r>
          </a:p>
          <a:p>
            <a:pPr algn="just">
              <a:lnSpc>
                <a:spcPct val="250000"/>
              </a:lnSpc>
            </a:pPr>
            <a:r>
              <a:rPr lang="en-IN" sz="1800" b="1" dirty="0">
                <a:solidFill>
                  <a:schemeClr val="tx1">
                    <a:lumMod val="50000"/>
                  </a:schemeClr>
                </a:solidFill>
                <a:latin typeface="Times New Roman" panose="02020603050405020304" pitchFamily="18" charset="0"/>
                <a:cs typeface="Times New Roman" panose="02020603050405020304" pitchFamily="18" charset="0"/>
              </a:rPr>
              <a:t>Results: </a:t>
            </a:r>
            <a:r>
              <a:rPr lang="en-IN" sz="1800" dirty="0">
                <a:solidFill>
                  <a:schemeClr val="tx1">
                    <a:lumMod val="50000"/>
                  </a:schemeClr>
                </a:solidFill>
                <a:latin typeface="Times New Roman" panose="02020603050405020304" pitchFamily="18" charset="0"/>
                <a:cs typeface="Times New Roman" panose="02020603050405020304" pitchFamily="18" charset="0"/>
              </a:rPr>
              <a:t>Improved prediction accuracy for thyroid disease detection. </a:t>
            </a:r>
          </a:p>
          <a:p>
            <a:pPr algn="just">
              <a:lnSpc>
                <a:spcPct val="250000"/>
              </a:lnSpc>
            </a:pPr>
            <a:r>
              <a:rPr lang="en-IN" sz="1800" b="1" dirty="0">
                <a:solidFill>
                  <a:schemeClr val="tx1">
                    <a:lumMod val="50000"/>
                  </a:schemeClr>
                </a:solidFill>
                <a:latin typeface="Times New Roman" panose="02020603050405020304" pitchFamily="18" charset="0"/>
                <a:cs typeface="Times New Roman" panose="02020603050405020304" pitchFamily="18" charset="0"/>
              </a:rPr>
              <a:t>Drawback: </a:t>
            </a:r>
            <a:r>
              <a:rPr lang="en-IN" sz="1800" dirty="0">
                <a:solidFill>
                  <a:schemeClr val="tx1">
                    <a:lumMod val="50000"/>
                  </a:schemeClr>
                </a:solidFill>
                <a:latin typeface="Times New Roman" panose="02020603050405020304" pitchFamily="18" charset="0"/>
                <a:cs typeface="Times New Roman" panose="02020603050405020304" pitchFamily="18" charset="0"/>
              </a:rPr>
              <a:t>Required large datasets and higher computational cost. </a:t>
            </a:r>
          </a:p>
          <a:p>
            <a:pPr algn="just">
              <a:lnSpc>
                <a:spcPct val="250000"/>
              </a:lnSpc>
            </a:pPr>
            <a:r>
              <a:rPr lang="en-IN" sz="1800" b="1" dirty="0">
                <a:solidFill>
                  <a:schemeClr val="tx1">
                    <a:lumMod val="50000"/>
                  </a:schemeClr>
                </a:solidFill>
                <a:latin typeface="Times New Roman" panose="02020603050405020304" pitchFamily="18" charset="0"/>
                <a:cs typeface="Times New Roman" panose="02020603050405020304" pitchFamily="18" charset="0"/>
              </a:rPr>
              <a:t>Conclusion: </a:t>
            </a:r>
            <a:r>
              <a:rPr lang="en-IN" sz="1800" dirty="0">
                <a:solidFill>
                  <a:schemeClr val="tx1">
                    <a:lumMod val="50000"/>
                  </a:schemeClr>
                </a:solidFill>
                <a:latin typeface="Times New Roman" panose="02020603050405020304" pitchFamily="18" charset="0"/>
                <a:cs typeface="Times New Roman" panose="02020603050405020304" pitchFamily="18" charset="0"/>
              </a:rPr>
              <a:t>ML methods are effective in healthcare diagnosis systems.</a:t>
            </a:r>
          </a:p>
          <a:p>
            <a:pPr algn="just">
              <a:lnSpc>
                <a:spcPct val="200000"/>
              </a:lnSpc>
            </a:pPr>
            <a:endParaRPr lang="en-IN" sz="1600" dirty="0"/>
          </a:p>
        </p:txBody>
      </p:sp>
    </p:spTree>
    <p:extLst>
      <p:ext uri="{BB962C8B-B14F-4D97-AF65-F5344CB8AC3E}">
        <p14:creationId xmlns:p14="http://schemas.microsoft.com/office/powerpoint/2010/main" val="424703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951EC-E92F-C1C3-5534-B1EF8CA67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A611B-74A1-B60B-AEA7-E0809F78275E}"/>
              </a:ext>
            </a:extLst>
          </p:cNvPr>
          <p:cNvSpPr>
            <a:spLocks noGrp="1"/>
          </p:cNvSpPr>
          <p:nvPr>
            <p:ph type="title"/>
          </p:nvPr>
        </p:nvSpPr>
        <p:spPr>
          <a:xfrm>
            <a:off x="3807325" y="1803400"/>
            <a:ext cx="5186950" cy="2350099"/>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LITERATURE SURVEY – 3</a:t>
            </a:r>
          </a:p>
        </p:txBody>
      </p:sp>
      <p:pic>
        <p:nvPicPr>
          <p:cNvPr id="3" name="Google Shape;232;p31">
            <a:extLst>
              <a:ext uri="{FF2B5EF4-FFF2-40B4-BE49-F238E27FC236}">
                <a16:creationId xmlns:a16="http://schemas.microsoft.com/office/drawing/2014/main" id="{9A4F0933-47E4-F936-9188-2DCBA828F22C}"/>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3399752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CBF1260-4AEA-C487-158B-358D8964071A}"/>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5E4BA7D-3011-B910-05B2-5323B8AF73C9}"/>
              </a:ext>
            </a:extLst>
          </p:cNvPr>
          <p:cNvSpPr>
            <a:spLocks noGrp="1"/>
          </p:cNvSpPr>
          <p:nvPr>
            <p:ph type="body" idx="1"/>
          </p:nvPr>
        </p:nvSpPr>
        <p:spPr>
          <a:xfrm>
            <a:off x="722375" y="474133"/>
            <a:ext cx="8150692" cy="4478867"/>
          </a:xfrm>
        </p:spPr>
        <p:txBody>
          <a:bodyPr/>
          <a:lstStyle/>
          <a:p>
            <a:pPr marL="152400" indent="0">
              <a:lnSpc>
                <a:spcPct val="150000"/>
              </a:lnSpc>
              <a:buNone/>
            </a:pPr>
            <a:r>
              <a:rPr lang="en-US" sz="2000" b="1" dirty="0">
                <a:solidFill>
                  <a:schemeClr val="tx1">
                    <a:lumMod val="50000"/>
                  </a:schemeClr>
                </a:solidFill>
                <a:latin typeface="Times New Roman" panose="02020603050405020304" pitchFamily="18" charset="0"/>
                <a:cs typeface="Times New Roman" panose="02020603050405020304" pitchFamily="18" charset="0"/>
              </a:rPr>
              <a:t>“Comparative analysis of machine learning classifiers for thyroid disease detection,” </a:t>
            </a:r>
            <a:r>
              <a:rPr lang="en-US" sz="2000" b="1" i="1" dirty="0">
                <a:solidFill>
                  <a:schemeClr val="tx1">
                    <a:lumMod val="50000"/>
                  </a:schemeClr>
                </a:solidFill>
                <a:latin typeface="Times New Roman" panose="02020603050405020304" pitchFamily="18" charset="0"/>
                <a:cs typeface="Times New Roman" panose="02020603050405020304" pitchFamily="18" charset="0"/>
              </a:rPr>
              <a:t>Procedia Computer Science</a:t>
            </a:r>
            <a:r>
              <a:rPr lang="en-US" sz="2000" b="1" dirty="0">
                <a:solidFill>
                  <a:schemeClr val="tx1">
                    <a:lumMod val="50000"/>
                  </a:schemeClr>
                </a:solidFill>
                <a:latin typeface="Times New Roman" panose="02020603050405020304" pitchFamily="18" charset="0"/>
                <a:cs typeface="Times New Roman" panose="02020603050405020304" pitchFamily="18" charset="0"/>
              </a:rPr>
              <a:t>, S. Duggal and R. Shukla, vol. 152, pp. 60–67, 2019.</a:t>
            </a:r>
          </a:p>
          <a:p>
            <a:pPr algn="just">
              <a:lnSpc>
                <a:spcPct val="250000"/>
              </a:lnSpc>
            </a:pPr>
            <a:r>
              <a:rPr lang="en-US" sz="1800" b="1" dirty="0">
                <a:solidFill>
                  <a:schemeClr val="tx1">
                    <a:lumMod val="50000"/>
                  </a:schemeClr>
                </a:solidFill>
                <a:latin typeface="Times New Roman" panose="02020603050405020304" pitchFamily="18" charset="0"/>
                <a:cs typeface="Times New Roman" panose="02020603050405020304" pitchFamily="18" charset="0"/>
              </a:rPr>
              <a:t>Focus: </a:t>
            </a:r>
            <a:r>
              <a:rPr lang="en-US" sz="1800" dirty="0">
                <a:solidFill>
                  <a:schemeClr val="tx1">
                    <a:lumMod val="50000"/>
                  </a:schemeClr>
                </a:solidFill>
                <a:latin typeface="Times New Roman" panose="02020603050405020304" pitchFamily="18" charset="0"/>
                <a:cs typeface="Times New Roman" panose="02020603050405020304" pitchFamily="18" charset="0"/>
              </a:rPr>
              <a:t>Comparison of machine learning classifiers for thyroid detection. </a:t>
            </a:r>
          </a:p>
          <a:p>
            <a:pPr algn="just">
              <a:lnSpc>
                <a:spcPct val="250000"/>
              </a:lnSpc>
            </a:pPr>
            <a:r>
              <a:rPr lang="en-US" sz="1800" b="1" dirty="0">
                <a:solidFill>
                  <a:schemeClr val="tx1">
                    <a:lumMod val="50000"/>
                  </a:schemeClr>
                </a:solidFill>
                <a:latin typeface="Times New Roman" panose="02020603050405020304" pitchFamily="18" charset="0"/>
                <a:cs typeface="Times New Roman" panose="02020603050405020304" pitchFamily="18" charset="0"/>
              </a:rPr>
              <a:t>Results: </a:t>
            </a:r>
            <a:r>
              <a:rPr lang="en-US" sz="1800" dirty="0">
                <a:solidFill>
                  <a:schemeClr val="tx1">
                    <a:lumMod val="50000"/>
                  </a:schemeClr>
                </a:solidFill>
                <a:latin typeface="Times New Roman" panose="02020603050405020304" pitchFamily="18" charset="0"/>
                <a:cs typeface="Times New Roman" panose="02020603050405020304" pitchFamily="18" charset="0"/>
              </a:rPr>
              <a:t>Some ML models achieved better accuracy than others. </a:t>
            </a:r>
          </a:p>
          <a:p>
            <a:pPr algn="just">
              <a:lnSpc>
                <a:spcPct val="250000"/>
              </a:lnSpc>
            </a:pPr>
            <a:r>
              <a:rPr lang="en-US" sz="1800" b="1" dirty="0">
                <a:solidFill>
                  <a:schemeClr val="tx1">
                    <a:lumMod val="50000"/>
                  </a:schemeClr>
                </a:solidFill>
                <a:latin typeface="Times New Roman" panose="02020603050405020304" pitchFamily="18" charset="0"/>
                <a:cs typeface="Times New Roman" panose="02020603050405020304" pitchFamily="18" charset="0"/>
              </a:rPr>
              <a:t>Drawback: </a:t>
            </a:r>
            <a:r>
              <a:rPr lang="en-US" sz="1800" dirty="0">
                <a:solidFill>
                  <a:schemeClr val="tx1">
                    <a:lumMod val="50000"/>
                  </a:schemeClr>
                </a:solidFill>
                <a:latin typeface="Times New Roman" panose="02020603050405020304" pitchFamily="18" charset="0"/>
                <a:cs typeface="Times New Roman" panose="02020603050405020304" pitchFamily="18" charset="0"/>
              </a:rPr>
              <a:t>Models were difficult to interpret and explain. </a:t>
            </a:r>
          </a:p>
          <a:p>
            <a:pPr algn="just">
              <a:lnSpc>
                <a:spcPct val="250000"/>
              </a:lnSpc>
            </a:pPr>
            <a:r>
              <a:rPr lang="en-US" sz="1800" b="1" dirty="0">
                <a:solidFill>
                  <a:schemeClr val="tx1">
                    <a:lumMod val="50000"/>
                  </a:schemeClr>
                </a:solidFill>
                <a:latin typeface="Times New Roman" panose="02020603050405020304" pitchFamily="18" charset="0"/>
                <a:cs typeface="Times New Roman" panose="02020603050405020304" pitchFamily="18" charset="0"/>
              </a:rPr>
              <a:t>Conclusion: </a:t>
            </a:r>
            <a:r>
              <a:rPr lang="en-US" sz="1800" dirty="0">
                <a:solidFill>
                  <a:schemeClr val="tx1">
                    <a:lumMod val="50000"/>
                  </a:schemeClr>
                </a:solidFill>
                <a:latin typeface="Times New Roman" panose="02020603050405020304" pitchFamily="18" charset="0"/>
                <a:cs typeface="Times New Roman" panose="02020603050405020304" pitchFamily="18" charset="0"/>
              </a:rPr>
              <a:t>Comparative analysis helps select the best prediction model.</a:t>
            </a:r>
          </a:p>
          <a:p>
            <a:pPr algn="just">
              <a:lnSpc>
                <a:spcPct val="200000"/>
              </a:lnSpc>
            </a:pPr>
            <a:endParaRPr lang="en-IN" sz="1600" dirty="0"/>
          </a:p>
        </p:txBody>
      </p:sp>
    </p:spTree>
    <p:extLst>
      <p:ext uri="{BB962C8B-B14F-4D97-AF65-F5344CB8AC3E}">
        <p14:creationId xmlns:p14="http://schemas.microsoft.com/office/powerpoint/2010/main" val="3026795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E8174-0269-8E6C-4C2A-944B7C01B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82B877-0C03-01D8-E4BE-4FE07A7BA26C}"/>
              </a:ext>
            </a:extLst>
          </p:cNvPr>
          <p:cNvSpPr>
            <a:spLocks noGrp="1"/>
          </p:cNvSpPr>
          <p:nvPr>
            <p:ph type="title"/>
          </p:nvPr>
        </p:nvSpPr>
        <p:spPr>
          <a:xfrm>
            <a:off x="3666067" y="1803400"/>
            <a:ext cx="5328208" cy="2350099"/>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EXISTING</a:t>
            </a:r>
            <a:r>
              <a:rPr lang="en-IN" sz="4800" spc="65" dirty="0">
                <a:solidFill>
                  <a:srgbClr val="00B050"/>
                </a:solidFill>
                <a:latin typeface="Times New Roman" panose="02020603050405020304" pitchFamily="18" charset="0"/>
                <a:cs typeface="Times New Roman" panose="02020603050405020304" pitchFamily="18" charset="0"/>
              </a:rPr>
              <a:t> </a:t>
            </a:r>
            <a:r>
              <a:rPr lang="en-IN" sz="4800" spc="-10" dirty="0">
                <a:solidFill>
                  <a:srgbClr val="00B050"/>
                </a:solidFill>
                <a:latin typeface="Times New Roman" panose="02020603050405020304" pitchFamily="18" charset="0"/>
                <a:cs typeface="Times New Roman" panose="02020603050405020304" pitchFamily="18" charset="0"/>
              </a:rPr>
              <a:t>SYSTEM</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6A3DF7C2-8E20-12A3-3C80-BCBEA5BEBEFF}"/>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866091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EDC68AB6-2DA2-83D5-11B9-2AE4029119C8}"/>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75CCB316-7AAB-0B09-9319-F484A53D8FB3}"/>
              </a:ext>
            </a:extLst>
          </p:cNvPr>
          <p:cNvSpPr>
            <a:spLocks noGrp="1"/>
          </p:cNvSpPr>
          <p:nvPr>
            <p:ph type="body" idx="1"/>
          </p:nvPr>
        </p:nvSpPr>
        <p:spPr>
          <a:xfrm>
            <a:off x="781642" y="804334"/>
            <a:ext cx="8150692" cy="3268134"/>
          </a:xfrm>
        </p:spPr>
        <p:txBody>
          <a:bodyPr/>
          <a:lstStyle/>
          <a:p>
            <a:pPr algn="just">
              <a:lnSpc>
                <a:spcPct val="250000"/>
              </a:lnSpc>
            </a:pPr>
            <a:r>
              <a:rPr lang="en-US" sz="1800" dirty="0">
                <a:solidFill>
                  <a:srgbClr val="0B131B"/>
                </a:solidFill>
                <a:latin typeface="Times New Roman" panose="02020603050405020304" pitchFamily="18" charset="0"/>
                <a:cs typeface="Times New Roman" panose="02020603050405020304" pitchFamily="18" charset="0"/>
              </a:rPr>
              <a:t>Traditional diagnosis depends mainly on laboratory tests and medical experts. </a:t>
            </a:r>
          </a:p>
          <a:p>
            <a:pPr algn="just">
              <a:lnSpc>
                <a:spcPct val="250000"/>
              </a:lnSpc>
            </a:pPr>
            <a:r>
              <a:rPr lang="en-US" sz="1800" dirty="0">
                <a:solidFill>
                  <a:srgbClr val="0B131B"/>
                </a:solidFill>
                <a:latin typeface="Times New Roman" panose="02020603050405020304" pitchFamily="18" charset="0"/>
                <a:cs typeface="Times New Roman" panose="02020603050405020304" pitchFamily="18" charset="0"/>
              </a:rPr>
              <a:t>Existing systems may take more time and can be less accurate. </a:t>
            </a:r>
          </a:p>
          <a:p>
            <a:pPr algn="just">
              <a:lnSpc>
                <a:spcPct val="250000"/>
              </a:lnSpc>
            </a:pPr>
            <a:r>
              <a:rPr lang="en-US" sz="1800" dirty="0">
                <a:solidFill>
                  <a:srgbClr val="0B131B"/>
                </a:solidFill>
                <a:latin typeface="Times New Roman" panose="02020603050405020304" pitchFamily="18" charset="0"/>
                <a:cs typeface="Times New Roman" panose="02020603050405020304" pitchFamily="18" charset="0"/>
              </a:rPr>
              <a:t>Many prediction systems work like black boxes and are difficult to interpret. </a:t>
            </a:r>
          </a:p>
          <a:p>
            <a:pPr algn="just">
              <a:lnSpc>
                <a:spcPct val="250000"/>
              </a:lnSpc>
            </a:pPr>
            <a:r>
              <a:rPr lang="en-US" sz="1800" dirty="0">
                <a:solidFill>
                  <a:srgbClr val="0B131B"/>
                </a:solidFill>
                <a:latin typeface="Times New Roman" panose="02020603050405020304" pitchFamily="18" charset="0"/>
                <a:cs typeface="Times New Roman" panose="02020603050405020304" pitchFamily="18" charset="0"/>
              </a:rPr>
              <a:t>Large datasets and complex processing are often required</a:t>
            </a:r>
            <a:endParaRPr lang="en-IN" sz="1800" dirty="0">
              <a:solidFill>
                <a:srgbClr val="0B131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9023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C94CEFA-4926-FEB1-4572-17B17BDC1041}"/>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8A384276-98D8-F545-483C-56D9FB136E1B}"/>
              </a:ext>
            </a:extLst>
          </p:cNvPr>
          <p:cNvSpPr>
            <a:spLocks noGrp="1"/>
          </p:cNvSpPr>
          <p:nvPr>
            <p:ph type="body" idx="1"/>
          </p:nvPr>
        </p:nvSpPr>
        <p:spPr>
          <a:xfrm>
            <a:off x="781642" y="482600"/>
            <a:ext cx="8150692" cy="3911600"/>
          </a:xfrm>
        </p:spPr>
        <p:txBody>
          <a:bodyPr/>
          <a:lstStyle/>
          <a:p>
            <a:pPr marL="152400" indent="0" algn="just">
              <a:lnSpc>
                <a:spcPct val="150000"/>
              </a:lnSpc>
              <a:buNone/>
            </a:pPr>
            <a:r>
              <a:rPr lang="en-US" sz="2000" b="1" dirty="0">
                <a:solidFill>
                  <a:srgbClr val="0B131B"/>
                </a:solidFill>
                <a:latin typeface="Times New Roman" panose="02020603050405020304" pitchFamily="18" charset="0"/>
                <a:cs typeface="Times New Roman" panose="02020603050405020304" pitchFamily="18" charset="0"/>
              </a:rPr>
              <a:t>DISADVANTAGES</a:t>
            </a:r>
          </a:p>
          <a:p>
            <a:pPr marL="152400" indent="0" algn="just">
              <a:lnSpc>
                <a:spcPct val="150000"/>
              </a:lnSpc>
              <a:buNone/>
            </a:pPr>
            <a:endParaRPr lang="en-US" sz="1800" b="1"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Lower prediction accuracy in traditional systems.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Difficult to understand prediction results.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Requires more clinical data and processing time.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Less suitable for real-time healthcare support.</a:t>
            </a:r>
          </a:p>
        </p:txBody>
      </p:sp>
    </p:spTree>
    <p:extLst>
      <p:ext uri="{BB962C8B-B14F-4D97-AF65-F5344CB8AC3E}">
        <p14:creationId xmlns:p14="http://schemas.microsoft.com/office/powerpoint/2010/main" val="2792248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8206-C51C-A544-89CB-7B285143B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5A3B4-81BA-0537-CA0A-65023FC6557C}"/>
              </a:ext>
            </a:extLst>
          </p:cNvPr>
          <p:cNvSpPr>
            <a:spLocks noGrp="1"/>
          </p:cNvSpPr>
          <p:nvPr>
            <p:ph type="title"/>
          </p:nvPr>
        </p:nvSpPr>
        <p:spPr>
          <a:xfrm>
            <a:off x="3666067" y="1803400"/>
            <a:ext cx="5328208" cy="2350099"/>
          </a:xfrm>
        </p:spPr>
        <p:txBody>
          <a:bodyPr/>
          <a:lstStyle/>
          <a:p>
            <a:r>
              <a:rPr lang="en-IN" sz="4800" spc="65" dirty="0">
                <a:solidFill>
                  <a:srgbClr val="00B050"/>
                </a:solidFill>
                <a:latin typeface="Times New Roman" panose="02020603050405020304" pitchFamily="18" charset="0"/>
                <a:cs typeface="Times New Roman" panose="02020603050405020304" pitchFamily="18" charset="0"/>
              </a:rPr>
              <a:t>PROPOSED </a:t>
            </a:r>
            <a:r>
              <a:rPr lang="en-IN" sz="4800" spc="-10" dirty="0">
                <a:solidFill>
                  <a:srgbClr val="00B050"/>
                </a:solidFill>
                <a:latin typeface="Times New Roman" panose="02020603050405020304" pitchFamily="18" charset="0"/>
                <a:cs typeface="Times New Roman" panose="02020603050405020304" pitchFamily="18" charset="0"/>
              </a:rPr>
              <a:t>SYSTEM</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17BF3F13-8271-1875-DDF6-65B10546A160}"/>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11114354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DFE3BF1-58F4-2619-00C9-9DA5E9A976C6}"/>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CE365B1-50B2-1CBE-23F5-9EC16E402010}"/>
              </a:ext>
            </a:extLst>
          </p:cNvPr>
          <p:cNvSpPr>
            <a:spLocks noGrp="1"/>
          </p:cNvSpPr>
          <p:nvPr>
            <p:ph type="body" idx="1"/>
          </p:nvPr>
        </p:nvSpPr>
        <p:spPr>
          <a:xfrm>
            <a:off x="668868" y="406401"/>
            <a:ext cx="7501466" cy="3903134"/>
          </a:xfrm>
        </p:spPr>
        <p:txBody>
          <a:bodyPr/>
          <a:lstStyle/>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The proposed system uses machine learning models for thyroid disease prediction.</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 Important features like TSH, T3, TT4, T4U, and FTI are used for classification.</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 Explainable AI techniques provide understandable predictions.</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The system achieves high accuracy with fewer important features.</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 Suitable for healthcare decision support systems.</a:t>
            </a:r>
            <a:endParaRPr lang="en-IN" sz="1800" dirty="0">
              <a:solidFill>
                <a:schemeClr val="tx1">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080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58E529E-9757-67BC-7398-43F7E756292E}"/>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0675B8F4-5556-E4DC-B622-46CEA3DFE991}"/>
              </a:ext>
            </a:extLst>
          </p:cNvPr>
          <p:cNvSpPr>
            <a:spLocks noGrp="1"/>
          </p:cNvSpPr>
          <p:nvPr>
            <p:ph type="body" idx="1"/>
          </p:nvPr>
        </p:nvSpPr>
        <p:spPr>
          <a:xfrm>
            <a:off x="931334" y="615950"/>
            <a:ext cx="6917266" cy="3812117"/>
          </a:xfrm>
        </p:spPr>
        <p:txBody>
          <a:bodyPr/>
          <a:lstStyle/>
          <a:p>
            <a:pPr marL="152400" indent="0" algn="just">
              <a:lnSpc>
                <a:spcPct val="150000"/>
              </a:lnSpc>
              <a:buNone/>
            </a:pPr>
            <a:r>
              <a:rPr lang="en-US" sz="2000" b="1" dirty="0">
                <a:solidFill>
                  <a:srgbClr val="0B131B"/>
                </a:solidFill>
                <a:latin typeface="Times New Roman" panose="02020603050405020304" pitchFamily="18" charset="0"/>
                <a:cs typeface="Times New Roman" panose="02020603050405020304" pitchFamily="18" charset="0"/>
              </a:rPr>
              <a:t>ADVANTAGES</a:t>
            </a:r>
          </a:p>
          <a:p>
            <a:pPr marL="152400" indent="0" algn="just">
              <a:lnSpc>
                <a:spcPct val="150000"/>
              </a:lnSpc>
              <a:buNone/>
            </a:pPr>
            <a:endParaRPr lang="en-US" sz="2000" b="1" dirty="0">
              <a:solidFill>
                <a:srgbClr val="0B131B"/>
              </a:solidFill>
              <a:latin typeface="Times New Roman" panose="02020603050405020304" pitchFamily="18" charset="0"/>
              <a:cs typeface="Times New Roman" panose="02020603050405020304" pitchFamily="18" charset="0"/>
            </a:endParaRP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High prediction accuracy.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Faster disease detection.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Easy to understand predictions using XAI.</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 Requires fewer important medical features.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Helpful for doctors and healthcare systems</a:t>
            </a:r>
            <a:r>
              <a:rPr lang="en-US" sz="1800" dirty="0">
                <a:latin typeface="Times New Roman" panose="02020603050405020304" pitchFamily="18" charset="0"/>
                <a:cs typeface="Times New Roman" panose="02020603050405020304" pitchFamily="18" charset="0"/>
              </a:rPr>
              <a:t>.</a:t>
            </a:r>
            <a:endParaRPr lang="en-US" sz="1800" b="1" dirty="0">
              <a:solidFill>
                <a:srgbClr val="0B131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9141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66F5-2F70-039E-5F77-518E5D99D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C72AE-72A9-418B-9ED1-94E12586503E}"/>
              </a:ext>
            </a:extLst>
          </p:cNvPr>
          <p:cNvSpPr>
            <a:spLocks noGrp="1"/>
          </p:cNvSpPr>
          <p:nvPr>
            <p:ph type="title"/>
          </p:nvPr>
        </p:nvSpPr>
        <p:spPr>
          <a:xfrm>
            <a:off x="3666067" y="1803400"/>
            <a:ext cx="5198533" cy="2345267"/>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SYSTEM</a:t>
            </a:r>
            <a:r>
              <a:rPr lang="en-IN" sz="4800" spc="105" dirty="0">
                <a:solidFill>
                  <a:srgbClr val="00B050"/>
                </a:solidFill>
                <a:latin typeface="Times New Roman" panose="02020603050405020304" pitchFamily="18" charset="0"/>
                <a:cs typeface="Times New Roman" panose="02020603050405020304" pitchFamily="18" charset="0"/>
              </a:rPr>
              <a:t> </a:t>
            </a:r>
            <a:r>
              <a:rPr lang="en-IN" sz="4800" spc="-10" dirty="0">
                <a:solidFill>
                  <a:srgbClr val="00B050"/>
                </a:solidFill>
                <a:latin typeface="Times New Roman" panose="02020603050405020304" pitchFamily="18" charset="0"/>
                <a:cs typeface="Times New Roman" panose="02020603050405020304" pitchFamily="18" charset="0"/>
              </a:rPr>
              <a:t>REQUIREMENTS</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6659EB1B-826A-EE46-0CA7-ED8FE6044213}"/>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30246159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 name="TextBox 2">
            <a:extLst>
              <a:ext uri="{FF2B5EF4-FFF2-40B4-BE49-F238E27FC236}">
                <a16:creationId xmlns:a16="http://schemas.microsoft.com/office/drawing/2014/main" id="{AD5E8013-6ADB-DEE0-C446-958E63EE4ED5}"/>
              </a:ext>
            </a:extLst>
          </p:cNvPr>
          <p:cNvSpPr txBox="1"/>
          <p:nvPr/>
        </p:nvSpPr>
        <p:spPr>
          <a:xfrm>
            <a:off x="760500" y="1057027"/>
            <a:ext cx="7480300" cy="3574697"/>
          </a:xfrm>
          <a:prstGeom prst="rect">
            <a:avLst/>
          </a:prstGeom>
          <a:noFill/>
        </p:spPr>
        <p:txBody>
          <a:bodyPr wrap="square">
            <a:spAutoFit/>
          </a:bodyPr>
          <a:lstStyle/>
          <a:p>
            <a:pPr marL="355600" indent="-342900">
              <a:lnSpc>
                <a:spcPct val="100000"/>
              </a:lnSpc>
              <a:spcBef>
                <a:spcPts val="100"/>
              </a:spcBef>
              <a:buFont typeface="Arial MT"/>
              <a:buChar char="•"/>
              <a:tabLst>
                <a:tab pos="355600" algn="l"/>
              </a:tabLst>
            </a:pPr>
            <a:r>
              <a:rPr lang="en-IN" sz="1800" b="1" dirty="0">
                <a:latin typeface="Times New Roman" panose="02020603050405020304"/>
                <a:cs typeface="Times New Roman" panose="02020603050405020304"/>
              </a:rPr>
              <a:t>Hardware</a:t>
            </a:r>
            <a:r>
              <a:rPr lang="en-IN" sz="1800" b="1" spc="-50" dirty="0">
                <a:latin typeface="Times New Roman" panose="02020603050405020304"/>
                <a:cs typeface="Times New Roman" panose="02020603050405020304"/>
              </a:rPr>
              <a:t> </a:t>
            </a:r>
            <a:r>
              <a:rPr lang="en-IN" sz="1800" b="1" spc="-10" dirty="0">
                <a:latin typeface="Times New Roman" panose="02020603050405020304"/>
                <a:cs typeface="Times New Roman" panose="02020603050405020304"/>
              </a:rPr>
              <a:t>Requirements:</a:t>
            </a:r>
            <a:endParaRPr lang="en-IN" sz="1800" dirty="0">
              <a:latin typeface="Times New Roman" panose="02020603050405020304"/>
              <a:cs typeface="Times New Roman" panose="02020603050405020304"/>
            </a:endParaRPr>
          </a:p>
          <a:p>
            <a:pPr marL="1995805" marR="1504950" algn="just">
              <a:lnSpc>
                <a:spcPct val="150000"/>
              </a:lnSpc>
              <a:spcBef>
                <a:spcPts val="465"/>
              </a:spcBef>
              <a:tabLst>
                <a:tab pos="3378200" algn="l"/>
                <a:tab pos="3414395" algn="l"/>
              </a:tabLst>
            </a:pPr>
            <a:r>
              <a:rPr lang="en-IN" sz="1600" spc="-10" dirty="0">
                <a:latin typeface="Times New Roman" panose="02020603050405020304"/>
                <a:cs typeface="Times New Roman" panose="02020603050405020304"/>
              </a:rPr>
              <a:t>Processor    </a:t>
            </a:r>
            <a:r>
              <a:rPr lang="en-IN" sz="1600" dirty="0">
                <a:latin typeface="Times New Roman" panose="02020603050405020304"/>
                <a:cs typeface="Times New Roman" panose="02020603050405020304"/>
              </a:rPr>
              <a:t>:</a:t>
            </a:r>
            <a:r>
              <a:rPr lang="en-IN" sz="1600" spc="-8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Intel Core</a:t>
            </a:r>
            <a:r>
              <a:rPr lang="en-IN" sz="1600" spc="-2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i3 </a:t>
            </a:r>
            <a:r>
              <a:rPr lang="en-IN" sz="1600" spc="-10" dirty="0">
                <a:latin typeface="Times New Roman" panose="02020603050405020304"/>
                <a:cs typeface="Times New Roman" panose="02020603050405020304"/>
              </a:rPr>
              <a:t>(min) </a:t>
            </a:r>
          </a:p>
          <a:p>
            <a:pPr marL="1995805" marR="1504950">
              <a:lnSpc>
                <a:spcPct val="150000"/>
              </a:lnSpc>
              <a:spcBef>
                <a:spcPts val="465"/>
              </a:spcBef>
              <a:tabLst>
                <a:tab pos="3378200" algn="l"/>
                <a:tab pos="3414395" algn="l"/>
              </a:tabLst>
            </a:pPr>
            <a:r>
              <a:rPr lang="en-IN" sz="1600" spc="-25" dirty="0">
                <a:latin typeface="Times New Roman" panose="02020603050405020304"/>
                <a:cs typeface="Times New Roman" panose="02020603050405020304"/>
              </a:rPr>
              <a:t>RAM           </a:t>
            </a:r>
            <a:r>
              <a:rPr lang="en-IN" sz="1600" dirty="0">
                <a:latin typeface="Times New Roman" panose="02020603050405020304"/>
                <a:cs typeface="Times New Roman" panose="02020603050405020304"/>
              </a:rPr>
              <a:t>:</a:t>
            </a:r>
            <a:r>
              <a:rPr lang="en-IN" sz="1600" spc="-1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8</a:t>
            </a:r>
            <a:r>
              <a:rPr lang="en-IN" sz="1600" spc="-1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GB</a:t>
            </a:r>
            <a:r>
              <a:rPr lang="en-IN" sz="1600" spc="-40" dirty="0">
                <a:latin typeface="Times New Roman" panose="02020603050405020304"/>
                <a:cs typeface="Times New Roman" panose="02020603050405020304"/>
              </a:rPr>
              <a:t> </a:t>
            </a:r>
            <a:r>
              <a:rPr lang="en-IN" sz="1600" spc="-20" dirty="0">
                <a:latin typeface="Times New Roman" panose="02020603050405020304"/>
                <a:cs typeface="Times New Roman" panose="02020603050405020304"/>
              </a:rPr>
              <a:t>(min)</a:t>
            </a:r>
          </a:p>
          <a:p>
            <a:pPr marL="1995805" marR="1504950">
              <a:lnSpc>
                <a:spcPct val="150000"/>
              </a:lnSpc>
              <a:spcBef>
                <a:spcPts val="465"/>
              </a:spcBef>
              <a:tabLst>
                <a:tab pos="3378200" algn="l"/>
                <a:tab pos="3414395" algn="l"/>
              </a:tabLst>
            </a:pPr>
            <a:r>
              <a:rPr lang="en-IN" sz="1600" dirty="0">
                <a:latin typeface="Times New Roman" panose="02020603050405020304"/>
                <a:cs typeface="Times New Roman" panose="02020603050405020304"/>
              </a:rPr>
              <a:t>Hard</a:t>
            </a:r>
            <a:r>
              <a:rPr lang="en-IN" sz="1600" spc="5"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Disk</a:t>
            </a:r>
            <a:r>
              <a:rPr lang="en-IN" sz="1600" spc="1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a:t>
            </a:r>
            <a:r>
              <a:rPr lang="en-IN" sz="1600" spc="-6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128</a:t>
            </a:r>
            <a:r>
              <a:rPr lang="en-IN" sz="1600" spc="1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GB</a:t>
            </a:r>
            <a:r>
              <a:rPr lang="en-IN" sz="1600" spc="-20" dirty="0">
                <a:latin typeface="Times New Roman" panose="02020603050405020304"/>
                <a:cs typeface="Times New Roman" panose="02020603050405020304"/>
              </a:rPr>
              <a:t> (min)</a:t>
            </a:r>
            <a:endParaRPr lang="en-IN" sz="1600" dirty="0">
              <a:latin typeface="Times New Roman" panose="02020603050405020304"/>
              <a:cs typeface="Times New Roman" panose="02020603050405020304"/>
            </a:endParaRPr>
          </a:p>
          <a:p>
            <a:pPr marL="355600" indent="-342900">
              <a:lnSpc>
                <a:spcPct val="100000"/>
              </a:lnSpc>
              <a:spcBef>
                <a:spcPts val="2150"/>
              </a:spcBef>
              <a:buFont typeface="Arial MT"/>
              <a:buChar char="•"/>
              <a:tabLst>
                <a:tab pos="355600" algn="l"/>
              </a:tabLst>
            </a:pPr>
            <a:r>
              <a:rPr lang="en-IN" sz="1800" b="1" dirty="0">
                <a:latin typeface="Times New Roman" panose="02020603050405020304"/>
                <a:cs typeface="Times New Roman" panose="02020603050405020304"/>
              </a:rPr>
              <a:t>Software</a:t>
            </a:r>
            <a:r>
              <a:rPr lang="en-IN" sz="1800" b="1" spc="-80" dirty="0">
                <a:latin typeface="Times New Roman" panose="02020603050405020304"/>
                <a:cs typeface="Times New Roman" panose="02020603050405020304"/>
              </a:rPr>
              <a:t> </a:t>
            </a:r>
            <a:r>
              <a:rPr lang="en-IN" sz="1800" b="1" spc="-10" dirty="0">
                <a:latin typeface="Times New Roman" panose="02020603050405020304"/>
                <a:cs typeface="Times New Roman" panose="02020603050405020304"/>
              </a:rPr>
              <a:t>Requirements:</a:t>
            </a:r>
            <a:endParaRPr lang="en-IN" sz="1800" b="1" dirty="0">
              <a:latin typeface="Times New Roman" panose="02020603050405020304"/>
              <a:cs typeface="Times New Roman" panose="02020603050405020304"/>
            </a:endParaRPr>
          </a:p>
          <a:p>
            <a:pPr marL="1461770" algn="just">
              <a:lnSpc>
                <a:spcPct val="150000"/>
              </a:lnSpc>
              <a:spcBef>
                <a:spcPts val="2150"/>
              </a:spcBef>
            </a:pPr>
            <a:r>
              <a:rPr lang="en-IN" sz="140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Operating</a:t>
            </a:r>
            <a:r>
              <a:rPr lang="en-IN" sz="1600" spc="-5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System</a:t>
            </a:r>
            <a:r>
              <a:rPr lang="en-IN" sz="1600" spc="-45"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a:t>
            </a:r>
            <a:r>
              <a:rPr lang="en-IN" sz="1600" spc="-11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Windows</a:t>
            </a:r>
            <a:r>
              <a:rPr lang="en-IN" sz="1600" spc="-15"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7</a:t>
            </a:r>
            <a:r>
              <a:rPr lang="en-IN" sz="1600" spc="-50" dirty="0">
                <a:latin typeface="Times New Roman" panose="02020603050405020304"/>
                <a:cs typeface="Times New Roman" panose="02020603050405020304"/>
              </a:rPr>
              <a:t> </a:t>
            </a:r>
            <a:r>
              <a:rPr lang="en-IN" sz="1600" spc="-10" dirty="0">
                <a:latin typeface="Times New Roman" panose="02020603050405020304"/>
                <a:cs typeface="Times New Roman" panose="02020603050405020304"/>
              </a:rPr>
              <a:t>(min)</a:t>
            </a:r>
            <a:endParaRPr lang="en-IN" sz="1600" dirty="0">
              <a:latin typeface="Times New Roman" panose="02020603050405020304"/>
              <a:cs typeface="Times New Roman" panose="02020603050405020304"/>
            </a:endParaRPr>
          </a:p>
          <a:p>
            <a:pPr marL="1385570" marR="5080" indent="76200" algn="just">
              <a:lnSpc>
                <a:spcPct val="150000"/>
              </a:lnSpc>
              <a:spcBef>
                <a:spcPts val="5"/>
              </a:spcBef>
              <a:tabLst>
                <a:tab pos="3709670" algn="l"/>
              </a:tabLst>
            </a:pPr>
            <a:r>
              <a:rPr lang="en-IN" sz="1600" spc="-25" dirty="0">
                <a:latin typeface="Times New Roman" panose="02020603050405020304"/>
                <a:cs typeface="Times New Roman" panose="02020603050405020304"/>
              </a:rPr>
              <a:t>           IDE                         </a:t>
            </a:r>
            <a:r>
              <a:rPr lang="en-IN" sz="1600" spc="-52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a:t>
            </a:r>
            <a:r>
              <a:rPr lang="en-IN" sz="1600" spc="-145"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Anaconda</a:t>
            </a:r>
            <a:r>
              <a:rPr lang="en-IN" sz="1600" spc="10" dirty="0">
                <a:latin typeface="Times New Roman" panose="02020603050405020304"/>
                <a:cs typeface="Times New Roman" panose="02020603050405020304"/>
              </a:rPr>
              <a:t> </a:t>
            </a:r>
            <a:r>
              <a:rPr lang="en-IN" sz="1600" dirty="0" err="1">
                <a:latin typeface="Times New Roman" panose="02020603050405020304"/>
                <a:cs typeface="Times New Roman" panose="02020603050405020304"/>
              </a:rPr>
              <a:t>Jupyter</a:t>
            </a:r>
            <a:r>
              <a:rPr lang="en-IN" sz="1600" spc="-30" dirty="0">
                <a:latin typeface="Times New Roman" panose="02020603050405020304"/>
                <a:cs typeface="Times New Roman" panose="02020603050405020304"/>
              </a:rPr>
              <a:t> </a:t>
            </a:r>
            <a:r>
              <a:rPr lang="en-IN" sz="1600" dirty="0">
                <a:latin typeface="Times New Roman" panose="02020603050405020304"/>
                <a:cs typeface="Times New Roman" panose="02020603050405020304"/>
              </a:rPr>
              <a:t>Notebook </a:t>
            </a:r>
          </a:p>
          <a:p>
            <a:pPr marL="1385570" marR="5080" indent="76200" algn="just">
              <a:lnSpc>
                <a:spcPct val="150000"/>
              </a:lnSpc>
              <a:spcBef>
                <a:spcPts val="5"/>
              </a:spcBef>
              <a:tabLst>
                <a:tab pos="3709670" algn="l"/>
              </a:tabLst>
            </a:pPr>
            <a:r>
              <a:rPr lang="en-IN" sz="1600" dirty="0">
                <a:latin typeface="Times New Roman" panose="02020603050405020304"/>
                <a:cs typeface="Times New Roman" panose="02020603050405020304"/>
              </a:rPr>
              <a:t>          Coding</a:t>
            </a:r>
            <a:r>
              <a:rPr lang="en-IN" sz="1600" spc="-30" dirty="0">
                <a:latin typeface="Times New Roman" panose="02020603050405020304"/>
                <a:cs typeface="Times New Roman" panose="02020603050405020304"/>
              </a:rPr>
              <a:t> </a:t>
            </a:r>
            <a:r>
              <a:rPr lang="en-IN" sz="1600" spc="-10" dirty="0">
                <a:latin typeface="Times New Roman" panose="02020603050405020304"/>
                <a:cs typeface="Times New Roman" panose="02020603050405020304"/>
              </a:rPr>
              <a:t>Language  </a:t>
            </a:r>
            <a:r>
              <a:rPr lang="en-IN" sz="1600" dirty="0">
                <a:latin typeface="Times New Roman" panose="02020603050405020304"/>
                <a:cs typeface="Times New Roman" panose="02020603050405020304"/>
              </a:rPr>
              <a:t>:  </a:t>
            </a:r>
            <a:r>
              <a:rPr lang="en-IN" sz="1600" spc="-10" dirty="0">
                <a:latin typeface="Times New Roman" panose="02020603050405020304"/>
                <a:cs typeface="Times New Roman" panose="02020603050405020304"/>
              </a:rPr>
              <a:t>Python</a:t>
            </a:r>
            <a:endParaRPr lang="en-IN" sz="1600" dirty="0">
              <a:latin typeface="Times New Roman" panose="02020603050405020304"/>
              <a:cs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8E62-F5C5-1E80-3C02-9081F5943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54FFD-1AA4-D832-F3FB-6B0BF792F8C2}"/>
              </a:ext>
            </a:extLst>
          </p:cNvPr>
          <p:cNvSpPr>
            <a:spLocks noGrp="1"/>
          </p:cNvSpPr>
          <p:nvPr>
            <p:ph type="title"/>
          </p:nvPr>
        </p:nvSpPr>
        <p:spPr>
          <a:xfrm>
            <a:off x="2844800" y="1617133"/>
            <a:ext cx="6561667" cy="2556935"/>
          </a:xfrm>
        </p:spPr>
        <p:txBody>
          <a:bodyPr/>
          <a:lstStyle/>
          <a:p>
            <a:r>
              <a:rPr lang="en-IN" sz="4800" dirty="0">
                <a:solidFill>
                  <a:srgbClr val="00B050"/>
                </a:solidFill>
                <a:latin typeface="Times New Roman" panose="02020603050405020304" pitchFamily="18" charset="0"/>
                <a:cs typeface="Times New Roman" panose="02020603050405020304" pitchFamily="18" charset="0"/>
              </a:rPr>
              <a:t>SYSTEM</a:t>
            </a:r>
            <a:r>
              <a:rPr lang="en-IN" sz="4800" spc="-10" dirty="0">
                <a:solidFill>
                  <a:srgbClr val="00B050"/>
                </a:solidFill>
                <a:latin typeface="Times New Roman" panose="02020603050405020304" pitchFamily="18" charset="0"/>
                <a:cs typeface="Times New Roman" panose="02020603050405020304" pitchFamily="18" charset="0"/>
              </a:rPr>
              <a:t> ARCHITECHTURE</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E384BA68-F365-A428-ED19-4A288274370D}"/>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3652146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 name="Picture 2">
            <a:extLst>
              <a:ext uri="{FF2B5EF4-FFF2-40B4-BE49-F238E27FC236}">
                <a16:creationId xmlns:a16="http://schemas.microsoft.com/office/drawing/2014/main" id="{0619C32F-6E26-BF1C-5FA3-B229B69C995A}"/>
              </a:ext>
            </a:extLst>
          </p:cNvPr>
          <p:cNvPicPr>
            <a:picLocks noChangeAspect="1"/>
          </p:cNvPicPr>
          <p:nvPr/>
        </p:nvPicPr>
        <p:blipFill>
          <a:blip r:embed="rId3"/>
          <a:stretch>
            <a:fillRect/>
          </a:stretch>
        </p:blipFill>
        <p:spPr>
          <a:xfrm>
            <a:off x="1964267" y="576433"/>
            <a:ext cx="6146800" cy="399063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05A1-AA3A-5B36-5979-B1AF36106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568364-1F12-780B-AB92-35494E8B9082}"/>
              </a:ext>
            </a:extLst>
          </p:cNvPr>
          <p:cNvSpPr>
            <a:spLocks noGrp="1"/>
          </p:cNvSpPr>
          <p:nvPr>
            <p:ph type="title"/>
          </p:nvPr>
        </p:nvSpPr>
        <p:spPr>
          <a:xfrm>
            <a:off x="3807325" y="1803400"/>
            <a:ext cx="5186950" cy="2350099"/>
          </a:xfrm>
        </p:spPr>
        <p:txBody>
          <a:bodyPr/>
          <a:lstStyle/>
          <a:p>
            <a:r>
              <a:rPr lang="en-IN" sz="4800" spc="-10" dirty="0">
                <a:solidFill>
                  <a:srgbClr val="00B050"/>
                </a:solidFill>
                <a:latin typeface="Times New Roman" panose="02020603050405020304" pitchFamily="18" charset="0"/>
                <a:cs typeface="Times New Roman" panose="02020603050405020304" pitchFamily="18" charset="0"/>
              </a:rPr>
              <a:t>MODULES</a:t>
            </a:r>
            <a:endParaRPr lang="en-IN" sz="4800" dirty="0">
              <a:solidFill>
                <a:srgbClr val="00B050"/>
              </a:solidFill>
              <a:latin typeface="Times New Roman" panose="02020603050405020304" pitchFamily="18" charset="0"/>
              <a:cs typeface="Times New Roman" panose="02020603050405020304" pitchFamily="18" charset="0"/>
            </a:endParaRPr>
          </a:p>
        </p:txBody>
      </p:sp>
      <p:pic>
        <p:nvPicPr>
          <p:cNvPr id="3" name="Google Shape;232;p31">
            <a:extLst>
              <a:ext uri="{FF2B5EF4-FFF2-40B4-BE49-F238E27FC236}">
                <a16:creationId xmlns:a16="http://schemas.microsoft.com/office/drawing/2014/main" id="{7747128D-AD42-4EEA-77D0-B15612D3D625}"/>
              </a:ext>
            </a:extLst>
          </p:cNvPr>
          <p:cNvPicPr preferRelativeResize="0"/>
          <p:nvPr/>
        </p:nvPicPr>
        <p:blipFill rotWithShape="1">
          <a:blip r:embed="rId2">
            <a:alphaModFix/>
          </a:blip>
          <a:srcRect l="-5115" t="-5115" r="-5115" b="-5115"/>
          <a:stretch/>
        </p:blipFill>
        <p:spPr>
          <a:xfrm>
            <a:off x="149725" y="742950"/>
            <a:ext cx="3657600" cy="3657600"/>
          </a:xfrm>
          <a:prstGeom prst="diamond">
            <a:avLst/>
          </a:prstGeom>
          <a:noFill/>
          <a:ln>
            <a:noFill/>
          </a:ln>
        </p:spPr>
      </p:pic>
    </p:spTree>
    <p:extLst>
      <p:ext uri="{BB962C8B-B14F-4D97-AF65-F5344CB8AC3E}">
        <p14:creationId xmlns:p14="http://schemas.microsoft.com/office/powerpoint/2010/main" val="1699029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 name="Subtitle 3">
            <a:extLst>
              <a:ext uri="{FF2B5EF4-FFF2-40B4-BE49-F238E27FC236}">
                <a16:creationId xmlns:a16="http://schemas.microsoft.com/office/drawing/2014/main" id="{C81770F0-807E-34DB-C819-66C74E790E45}"/>
              </a:ext>
            </a:extLst>
          </p:cNvPr>
          <p:cNvSpPr>
            <a:spLocks noGrp="1"/>
          </p:cNvSpPr>
          <p:nvPr>
            <p:ph type="subTitle" idx="4294967295"/>
          </p:nvPr>
        </p:nvSpPr>
        <p:spPr>
          <a:xfrm>
            <a:off x="1083733" y="423333"/>
            <a:ext cx="7526867" cy="4572000"/>
          </a:xfrm>
        </p:spPr>
        <p:txBody>
          <a:bodyPr/>
          <a:lstStyle/>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Data Collection </a:t>
            </a:r>
          </a:p>
          <a:p>
            <a:pPr marL="152400" indent="0">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Data Preprocessing</a:t>
            </a:r>
          </a:p>
          <a:p>
            <a:pPr>
              <a:lnSpc>
                <a:spcPct val="150000"/>
              </a:lnSpc>
              <a:buFont typeface="Wingdings" panose="05000000000000000000" pitchFamily="2" charset="2"/>
              <a:buChar char="v"/>
            </a:pPr>
            <a:endParaRPr lang="en-US" sz="1800" dirty="0">
              <a:solidFill>
                <a:srgbClr val="0B131B"/>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 Model Building</a:t>
            </a:r>
          </a:p>
          <a:p>
            <a:pPr>
              <a:lnSpc>
                <a:spcPct val="150000"/>
              </a:lnSpc>
              <a:buFont typeface="Wingdings" panose="05000000000000000000" pitchFamily="2" charset="2"/>
              <a:buChar char="v"/>
            </a:pPr>
            <a:endParaRPr lang="en-US" sz="1800" dirty="0">
              <a:solidFill>
                <a:srgbClr val="0B131B"/>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Model Explainable AI (SHAP Analysis)</a:t>
            </a:r>
          </a:p>
          <a:p>
            <a:pPr>
              <a:lnSpc>
                <a:spcPct val="150000"/>
              </a:lnSpc>
              <a:buFont typeface="Wingdings" panose="05000000000000000000" pitchFamily="2" charset="2"/>
              <a:buChar char="v"/>
            </a:pPr>
            <a:endParaRPr lang="en-US" sz="1800" dirty="0">
              <a:solidFill>
                <a:srgbClr val="0B131B"/>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Model Evaluation </a:t>
            </a:r>
          </a:p>
          <a:p>
            <a:pPr marL="152400" indent="0">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US" sz="1800" dirty="0">
                <a:solidFill>
                  <a:srgbClr val="0B131B"/>
                </a:solidFill>
                <a:latin typeface="Times New Roman" panose="02020603050405020304" pitchFamily="18" charset="0"/>
                <a:cs typeface="Times New Roman" panose="02020603050405020304" pitchFamily="18" charset="0"/>
              </a:rPr>
              <a:t>Performance Evaluation</a:t>
            </a:r>
            <a:endParaRPr lang="en-IN" sz="1800" dirty="0">
              <a:solidFill>
                <a:srgbClr val="0B131B"/>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57424CCA-BFCF-B572-BAD3-ADC03310F125}"/>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A4A66A2C-12F4-7EDD-9EE1-857CF71172F5}"/>
              </a:ext>
            </a:extLst>
          </p:cNvPr>
          <p:cNvSpPr>
            <a:spLocks noGrp="1"/>
          </p:cNvSpPr>
          <p:nvPr>
            <p:ph type="body" idx="1"/>
          </p:nvPr>
        </p:nvSpPr>
        <p:spPr>
          <a:xfrm>
            <a:off x="931334" y="615950"/>
            <a:ext cx="6917266" cy="4527550"/>
          </a:xfrm>
        </p:spPr>
        <p:txBody>
          <a:bodyPr/>
          <a:lstStyle/>
          <a:p>
            <a:pPr marL="152400" indent="0" algn="just">
              <a:lnSpc>
                <a:spcPct val="150000"/>
              </a:lnSpc>
              <a:buNone/>
            </a:pPr>
            <a:r>
              <a:rPr lang="en-IN" sz="2000" b="1"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DATA COLLECTION</a:t>
            </a:r>
          </a:p>
          <a:p>
            <a:pPr marL="152400" indent="0" algn="just">
              <a:lnSpc>
                <a:spcPct val="150000"/>
              </a:lnSpc>
              <a:buNone/>
            </a:pPr>
            <a:endParaRPr lang="en-IN" sz="20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endParaRPr>
          </a:p>
          <a:p>
            <a:pPr algn="just">
              <a:lnSpc>
                <a:spcPct val="200000"/>
              </a:lnSpc>
            </a:pP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Collected the Thyroid Disease Dataset (</a:t>
            </a:r>
            <a:r>
              <a:rPr lang="en-IN" sz="1800" dirty="0" err="1">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df</a:t>
            </a: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 for prediction. </a:t>
            </a:r>
          </a:p>
          <a:p>
            <a:pPr algn="just">
              <a:lnSpc>
                <a:spcPct val="200000"/>
              </a:lnSpc>
            </a:pP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Dataset contains thyroid-related medical and laboratory data. </a:t>
            </a:r>
          </a:p>
          <a:p>
            <a:pPr algn="just">
              <a:lnSpc>
                <a:spcPct val="200000"/>
              </a:lnSpc>
            </a:pP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Important features include TSH, T3, TT4, T4U, and FTI. </a:t>
            </a:r>
          </a:p>
          <a:p>
            <a:pPr algn="just">
              <a:lnSpc>
                <a:spcPct val="200000"/>
              </a:lnSpc>
            </a:pP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Used the dataset to classify thyroid disease conditions.</a:t>
            </a:r>
          </a:p>
          <a:p>
            <a:pPr marL="152400" indent="0" algn="just">
              <a:lnSpc>
                <a:spcPct val="200000"/>
              </a:lnSpc>
              <a:buNone/>
            </a:pPr>
            <a:r>
              <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hlinkClick r:id="rId3"/>
              </a:rPr>
              <a:t>https://www.kaggle.com/datasets/emmanuelfwerr/thyroid-disease-data?utm_source=chatgpt.com</a:t>
            </a:r>
            <a:endParaRPr lang="en-IN" sz="1800"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3181696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98C55CD1-5746-BC1B-032D-9DE4E8200511}"/>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BE69F1E0-A367-B6ED-4C12-7E7ACBE814D8}"/>
              </a:ext>
            </a:extLst>
          </p:cNvPr>
          <p:cNvSpPr>
            <a:spLocks noGrp="1"/>
          </p:cNvSpPr>
          <p:nvPr>
            <p:ph type="body" idx="1"/>
          </p:nvPr>
        </p:nvSpPr>
        <p:spPr>
          <a:xfrm>
            <a:off x="931334" y="615950"/>
            <a:ext cx="6917266" cy="4527550"/>
          </a:xfrm>
        </p:spPr>
        <p:txBody>
          <a:bodyPr/>
          <a:lstStyle/>
          <a:p>
            <a:pPr marL="152400" indent="0" algn="just">
              <a:lnSpc>
                <a:spcPct val="150000"/>
              </a:lnSpc>
              <a:buNone/>
            </a:pPr>
            <a:r>
              <a:rPr lang="en-IN" sz="2000" b="1" dirty="0">
                <a:solidFill>
                  <a:srgbClr val="0B131B"/>
                </a:solidFill>
                <a:latin typeface="Times New Roman" panose="02020603050405020304" pitchFamily="18" charset="0"/>
                <a:ea typeface="Cascadia Code Light" panose="020B0609020000020004" pitchFamily="49" charset="0"/>
                <a:cs typeface="Times New Roman" panose="02020603050405020304" pitchFamily="18" charset="0"/>
              </a:rPr>
              <a:t>DATA PREPROCESSING</a:t>
            </a:r>
          </a:p>
          <a:p>
            <a:pPr algn="just">
              <a:lnSpc>
                <a:spcPct val="300000"/>
              </a:lnSpc>
            </a:pPr>
            <a:r>
              <a:rPr lang="en-US" sz="1800"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rPr>
              <a:t>Removed missing and duplicate values.</a:t>
            </a:r>
          </a:p>
          <a:p>
            <a:pPr algn="just">
              <a:lnSpc>
                <a:spcPct val="300000"/>
              </a:lnSpc>
            </a:pPr>
            <a:r>
              <a:rPr lang="en-US" sz="1800"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rPr>
              <a:t>Converted categorical data into numerical form. </a:t>
            </a:r>
          </a:p>
          <a:p>
            <a:pPr algn="just">
              <a:lnSpc>
                <a:spcPct val="300000"/>
              </a:lnSpc>
            </a:pPr>
            <a:r>
              <a:rPr lang="en-US" sz="1800"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rPr>
              <a:t>Normalized important medical features.</a:t>
            </a:r>
          </a:p>
          <a:p>
            <a:pPr algn="just">
              <a:lnSpc>
                <a:spcPct val="300000"/>
              </a:lnSpc>
            </a:pPr>
            <a:r>
              <a:rPr lang="en-US" sz="1800"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rPr>
              <a:t> Prepared clean data for model training.</a:t>
            </a: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654637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17" name="Picture 16">
            <a:extLst>
              <a:ext uri="{FF2B5EF4-FFF2-40B4-BE49-F238E27FC236}">
                <a16:creationId xmlns:a16="http://schemas.microsoft.com/office/drawing/2014/main" id="{225CF627-ECEE-06A4-8589-D4D8F231FB45}"/>
              </a:ext>
            </a:extLst>
          </p:cNvPr>
          <p:cNvPicPr>
            <a:picLocks noChangeAspect="1"/>
          </p:cNvPicPr>
          <p:nvPr/>
        </p:nvPicPr>
        <p:blipFill>
          <a:blip r:embed="rId3"/>
          <a:stretch>
            <a:fillRect/>
          </a:stretch>
        </p:blipFill>
        <p:spPr>
          <a:xfrm>
            <a:off x="714375" y="338667"/>
            <a:ext cx="7639313" cy="437726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41C48861-E3EB-E2F7-9CC9-B03EE0D2C23A}"/>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FDDEA5B2-B627-A90F-BE93-25B59C1679F7}"/>
              </a:ext>
            </a:extLst>
          </p:cNvPr>
          <p:cNvSpPr>
            <a:spLocks noGrp="1"/>
          </p:cNvSpPr>
          <p:nvPr>
            <p:ph type="body" idx="1"/>
          </p:nvPr>
        </p:nvSpPr>
        <p:spPr>
          <a:xfrm>
            <a:off x="931334" y="615950"/>
            <a:ext cx="6917266" cy="4527550"/>
          </a:xfrm>
        </p:spPr>
        <p:txBody>
          <a:bodyPr/>
          <a:lstStyle/>
          <a:p>
            <a:pPr marL="152400" indent="0">
              <a:buNone/>
            </a:pPr>
            <a:r>
              <a:rPr lang="en-US" sz="2000" b="1" dirty="0">
                <a:solidFill>
                  <a:srgbClr val="0B131B"/>
                </a:solidFill>
                <a:latin typeface="Times New Roman" panose="02020603050405020304" pitchFamily="18" charset="0"/>
                <a:cs typeface="Times New Roman" panose="02020603050405020304" pitchFamily="18" charset="0"/>
              </a:rPr>
              <a:t>MODEL BUILDING</a:t>
            </a:r>
          </a:p>
          <a:p>
            <a:pPr marL="152400" indent="0">
              <a:buNone/>
            </a:pPr>
            <a:endParaRPr lang="en-US" sz="1800" b="1"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Split the dataset into training and testing sets.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Trained different machine learning algorithms.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Compared models using accuracy and AUC score. </a:t>
            </a:r>
          </a:p>
          <a:p>
            <a:pPr algn="just">
              <a:lnSpc>
                <a:spcPct val="150000"/>
              </a:lnSpc>
            </a:pPr>
            <a:endParaRPr lang="en-US" sz="1800" dirty="0">
              <a:solidFill>
                <a:srgbClr val="0B131B"/>
              </a:solidFill>
              <a:latin typeface="Times New Roman" panose="02020603050405020304" pitchFamily="18" charset="0"/>
              <a:cs typeface="Times New Roman" panose="02020603050405020304" pitchFamily="18" charset="0"/>
            </a:endParaRPr>
          </a:p>
          <a:p>
            <a:pPr algn="just">
              <a:lnSpc>
                <a:spcPct val="150000"/>
              </a:lnSpc>
            </a:pPr>
            <a:r>
              <a:rPr lang="en-US" sz="1800" dirty="0">
                <a:solidFill>
                  <a:srgbClr val="0B131B"/>
                </a:solidFill>
                <a:latin typeface="Times New Roman" panose="02020603050405020304" pitchFamily="18" charset="0"/>
                <a:cs typeface="Times New Roman" panose="02020603050405020304" pitchFamily="18" charset="0"/>
              </a:rPr>
              <a:t>Selected the best-performing prediction model.</a:t>
            </a: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2616476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CDB52E8D-2B28-3AD8-3AF6-2AFFF6ED8FA2}"/>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6BFA49D0-B26D-F8C8-8243-F3900112CD61}"/>
              </a:ext>
            </a:extLst>
          </p:cNvPr>
          <p:cNvSpPr>
            <a:spLocks noGrp="1"/>
          </p:cNvSpPr>
          <p:nvPr>
            <p:ph type="body" idx="1"/>
          </p:nvPr>
        </p:nvSpPr>
        <p:spPr>
          <a:xfrm>
            <a:off x="1113367" y="407458"/>
            <a:ext cx="6917266" cy="4328583"/>
          </a:xfrm>
        </p:spPr>
        <p:txBody>
          <a:bodyPr/>
          <a:lstStyle/>
          <a:p>
            <a:pPr marL="152400" indent="0">
              <a:lnSpc>
                <a:spcPct val="200000"/>
              </a:lnSpc>
              <a:buNone/>
            </a:pPr>
            <a:r>
              <a:rPr lang="en-US" sz="2000" b="1" dirty="0">
                <a:solidFill>
                  <a:srgbClr val="0B131B"/>
                </a:solidFill>
                <a:latin typeface="Times New Roman" panose="02020603050405020304" pitchFamily="18" charset="0"/>
                <a:cs typeface="Times New Roman" panose="02020603050405020304" pitchFamily="18" charset="0"/>
              </a:rPr>
              <a:t>RANDOM FOREST</a:t>
            </a:r>
          </a:p>
          <a:p>
            <a:pPr marL="152400" indent="0">
              <a:lnSpc>
                <a:spcPct val="200000"/>
              </a:lnSpc>
              <a:buNone/>
            </a:pPr>
            <a:endParaRPr lang="en-US" sz="2000" b="1" dirty="0">
              <a:solidFill>
                <a:srgbClr val="0B131B"/>
              </a:solidFill>
              <a:latin typeface="Times New Roman" panose="02020603050405020304" pitchFamily="18" charset="0"/>
              <a:cs typeface="Times New Roman" panose="02020603050405020304" pitchFamily="18" charset="0"/>
            </a:endParaRPr>
          </a:p>
          <a:p>
            <a:pPr>
              <a:lnSpc>
                <a:spcPct val="200000"/>
              </a:lnSpc>
            </a:pPr>
            <a:r>
              <a:rPr lang="en-US" sz="1800" dirty="0">
                <a:solidFill>
                  <a:srgbClr val="0B131B"/>
                </a:solidFill>
                <a:latin typeface="Times New Roman" panose="02020603050405020304" pitchFamily="18" charset="0"/>
                <a:cs typeface="Times New Roman" panose="02020603050405020304" pitchFamily="18" charset="0"/>
              </a:rPr>
              <a:t>Uses multiple decision trees for prediction. </a:t>
            </a:r>
          </a:p>
          <a:p>
            <a:pPr>
              <a:lnSpc>
                <a:spcPct val="200000"/>
              </a:lnSpc>
            </a:pPr>
            <a:r>
              <a:rPr lang="en-US" sz="1800" dirty="0">
                <a:solidFill>
                  <a:srgbClr val="0B131B"/>
                </a:solidFill>
                <a:latin typeface="Times New Roman" panose="02020603050405020304" pitchFamily="18" charset="0"/>
                <a:cs typeface="Times New Roman" panose="02020603050405020304" pitchFamily="18" charset="0"/>
              </a:rPr>
              <a:t>Handles complex medical data effectively. </a:t>
            </a:r>
          </a:p>
          <a:p>
            <a:pPr>
              <a:lnSpc>
                <a:spcPct val="200000"/>
              </a:lnSpc>
            </a:pPr>
            <a:r>
              <a:rPr lang="en-US" sz="1800" dirty="0">
                <a:solidFill>
                  <a:srgbClr val="0B131B"/>
                </a:solidFill>
                <a:latin typeface="Times New Roman" panose="02020603050405020304" pitchFamily="18" charset="0"/>
                <a:cs typeface="Times New Roman" panose="02020603050405020304" pitchFamily="18" charset="0"/>
              </a:rPr>
              <a:t>Reduces overfitting and improves accuracy. </a:t>
            </a:r>
          </a:p>
          <a:p>
            <a:pPr>
              <a:lnSpc>
                <a:spcPct val="200000"/>
              </a:lnSpc>
            </a:pPr>
            <a:r>
              <a:rPr lang="en-US" sz="1800" dirty="0">
                <a:solidFill>
                  <a:srgbClr val="0B131B"/>
                </a:solidFill>
                <a:latin typeface="Times New Roman" panose="02020603050405020304" pitchFamily="18" charset="0"/>
                <a:cs typeface="Times New Roman" panose="02020603050405020304" pitchFamily="18" charset="0"/>
              </a:rPr>
              <a:t>Performs well for thyroid disease classification.</a:t>
            </a: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4235104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8551AD97-E94B-750A-0E32-88A407613D35}"/>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FD8A74-982C-96F0-2771-EF4E36D036B7}"/>
              </a:ext>
            </a:extLst>
          </p:cNvPr>
          <p:cNvSpPr>
            <a:spLocks noGrp="1"/>
          </p:cNvSpPr>
          <p:nvPr>
            <p:ph type="body" idx="1"/>
          </p:nvPr>
        </p:nvSpPr>
        <p:spPr>
          <a:xfrm>
            <a:off x="1113367" y="407458"/>
            <a:ext cx="6917266" cy="4328583"/>
          </a:xfrm>
        </p:spPr>
        <p:txBody>
          <a:bodyPr/>
          <a:lstStyle/>
          <a:p>
            <a:pPr marL="152400" indent="0">
              <a:lnSpc>
                <a:spcPct val="150000"/>
              </a:lnSpc>
              <a:buNone/>
            </a:pPr>
            <a:r>
              <a:rPr lang="en-US" sz="2000" b="1" dirty="0">
                <a:solidFill>
                  <a:schemeClr val="tx1">
                    <a:lumMod val="50000"/>
                  </a:schemeClr>
                </a:solidFill>
                <a:latin typeface="Times New Roman" panose="02020603050405020304" pitchFamily="18" charset="0"/>
                <a:cs typeface="Times New Roman" panose="02020603050405020304" pitchFamily="18" charset="0"/>
              </a:rPr>
              <a:t>SVC</a:t>
            </a:r>
          </a:p>
          <a:p>
            <a:pPr marL="152400" indent="0">
              <a:lnSpc>
                <a:spcPct val="150000"/>
              </a:lnSpc>
              <a:buNone/>
            </a:pPr>
            <a:endParaRPr lang="en-US" sz="2000" b="1" dirty="0">
              <a:solidFill>
                <a:schemeClr val="tx1">
                  <a:lumMod val="50000"/>
                </a:schemeClr>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Used for thyroid disease classification tasks. </a:t>
            </a:r>
          </a:p>
          <a:p>
            <a:pPr>
              <a:lnSpc>
                <a:spcPct val="150000"/>
              </a:lnSpc>
            </a:pPr>
            <a:endParaRPr lang="en-US" sz="1800" dirty="0">
              <a:solidFill>
                <a:schemeClr val="tx1">
                  <a:lumMod val="50000"/>
                </a:schemeClr>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Creates optimal boundaries between classes. </a:t>
            </a:r>
          </a:p>
          <a:p>
            <a:pPr>
              <a:lnSpc>
                <a:spcPct val="150000"/>
              </a:lnSpc>
            </a:pPr>
            <a:endParaRPr lang="en-US" sz="1800" dirty="0">
              <a:solidFill>
                <a:schemeClr val="tx1">
                  <a:lumMod val="50000"/>
                </a:schemeClr>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Works well with high-dimensional data. </a:t>
            </a:r>
          </a:p>
          <a:p>
            <a:pPr>
              <a:lnSpc>
                <a:spcPct val="150000"/>
              </a:lnSpc>
            </a:pPr>
            <a:endParaRPr lang="en-US" sz="1800" dirty="0">
              <a:solidFill>
                <a:schemeClr val="tx1">
                  <a:lumMod val="50000"/>
                </a:schemeClr>
              </a:solidFill>
              <a:latin typeface="Times New Roman" panose="02020603050405020304" pitchFamily="18" charset="0"/>
              <a:cs typeface="Times New Roman" panose="02020603050405020304" pitchFamily="18" charset="0"/>
            </a:endParaRPr>
          </a:p>
          <a:p>
            <a:pPr>
              <a:lnSpc>
                <a:spcPct val="15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Provides good prediction performance.</a:t>
            </a:r>
          </a:p>
          <a:p>
            <a:endParaRPr lang="en-US" sz="1800" dirty="0"/>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2645359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B85CB58-3E01-A982-F976-9D3D33DA5442}"/>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02B6E4A6-D5D1-F673-EA12-C0567593D120}"/>
              </a:ext>
            </a:extLst>
          </p:cNvPr>
          <p:cNvSpPr>
            <a:spLocks noGrp="1"/>
          </p:cNvSpPr>
          <p:nvPr>
            <p:ph type="body" idx="1"/>
          </p:nvPr>
        </p:nvSpPr>
        <p:spPr>
          <a:xfrm>
            <a:off x="1113367" y="407458"/>
            <a:ext cx="6917266" cy="4328583"/>
          </a:xfrm>
        </p:spPr>
        <p:txBody>
          <a:bodyPr/>
          <a:lstStyle/>
          <a:p>
            <a:pPr marL="152400" indent="0">
              <a:lnSpc>
                <a:spcPct val="200000"/>
              </a:lnSpc>
              <a:buNone/>
            </a:pPr>
            <a:r>
              <a:rPr lang="en-IN" sz="2000" b="1" dirty="0">
                <a:solidFill>
                  <a:schemeClr val="tx1">
                    <a:lumMod val="50000"/>
                  </a:schemeClr>
                </a:solidFill>
                <a:latin typeface="Times New Roman" panose="02020603050405020304" pitchFamily="18" charset="0"/>
                <a:cs typeface="Times New Roman" panose="02020603050405020304" pitchFamily="18" charset="0"/>
              </a:rPr>
              <a:t>EXTRA TREES</a:t>
            </a:r>
          </a:p>
          <a:p>
            <a:pPr marL="152400" indent="0">
              <a:lnSpc>
                <a:spcPct val="200000"/>
              </a:lnSpc>
              <a:buNone/>
            </a:pPr>
            <a:endParaRPr lang="en-IN" sz="1800" b="1" dirty="0">
              <a:solidFill>
                <a:schemeClr val="tx1">
                  <a:lumMod val="50000"/>
                </a:schemeClr>
              </a:solidFill>
              <a:latin typeface="Times New Roman" panose="02020603050405020304" pitchFamily="18" charset="0"/>
              <a:cs typeface="Times New Roman" panose="02020603050405020304" pitchFamily="18" charset="0"/>
            </a:endParaRPr>
          </a:p>
          <a:p>
            <a:pPr>
              <a:lnSpc>
                <a:spcPct val="200000"/>
              </a:lnSpc>
            </a:pPr>
            <a:r>
              <a:rPr lang="en-IN" sz="1800" dirty="0">
                <a:solidFill>
                  <a:schemeClr val="tx1">
                    <a:lumMod val="50000"/>
                  </a:schemeClr>
                </a:solidFill>
                <a:latin typeface="Times New Roman" panose="02020603050405020304" pitchFamily="18" charset="0"/>
                <a:cs typeface="Times New Roman" panose="02020603050405020304" pitchFamily="18" charset="0"/>
              </a:rPr>
              <a:t>Ensemble learning algorithm based on multiple random decision trees. </a:t>
            </a:r>
          </a:p>
          <a:p>
            <a:pPr>
              <a:lnSpc>
                <a:spcPct val="200000"/>
              </a:lnSpc>
            </a:pPr>
            <a:r>
              <a:rPr lang="en-IN" sz="1800" dirty="0">
                <a:solidFill>
                  <a:schemeClr val="tx1">
                    <a:lumMod val="50000"/>
                  </a:schemeClr>
                </a:solidFill>
                <a:latin typeface="Times New Roman" panose="02020603050405020304" pitchFamily="18" charset="0"/>
                <a:cs typeface="Times New Roman" panose="02020603050405020304" pitchFamily="18" charset="0"/>
              </a:rPr>
              <a:t>Handles large and complex medical datasets efficiently. </a:t>
            </a:r>
          </a:p>
          <a:p>
            <a:pPr>
              <a:lnSpc>
                <a:spcPct val="200000"/>
              </a:lnSpc>
            </a:pPr>
            <a:r>
              <a:rPr lang="en-IN" sz="1800" dirty="0">
                <a:solidFill>
                  <a:schemeClr val="tx1">
                    <a:lumMod val="50000"/>
                  </a:schemeClr>
                </a:solidFill>
                <a:latin typeface="Times New Roman" panose="02020603050405020304" pitchFamily="18" charset="0"/>
                <a:cs typeface="Times New Roman" panose="02020603050405020304" pitchFamily="18" charset="0"/>
              </a:rPr>
              <a:t>Reduces variance and improves prediction stability. </a:t>
            </a:r>
          </a:p>
          <a:p>
            <a:pPr>
              <a:lnSpc>
                <a:spcPct val="200000"/>
              </a:lnSpc>
            </a:pPr>
            <a:r>
              <a:rPr lang="en-IN" sz="1800" dirty="0">
                <a:solidFill>
                  <a:schemeClr val="tx1">
                    <a:lumMod val="50000"/>
                  </a:schemeClr>
                </a:solidFill>
                <a:latin typeface="Times New Roman" panose="02020603050405020304" pitchFamily="18" charset="0"/>
                <a:cs typeface="Times New Roman" panose="02020603050405020304" pitchFamily="18" charset="0"/>
              </a:rPr>
              <a:t>Provides good accuracy for thyroid disease classification</a:t>
            </a:r>
          </a:p>
          <a:p>
            <a:pPr>
              <a:lnSpc>
                <a:spcPct val="200000"/>
              </a:lnSpc>
            </a:pPr>
            <a:endParaRPr lang="en-US" sz="1800" dirty="0">
              <a:solidFill>
                <a:schemeClr val="tx1">
                  <a:lumMod val="50000"/>
                </a:schemeClr>
              </a:solidFill>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33962047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A59D9FDE-E50A-6B4C-5432-E70073B6AB56}"/>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EF433BA-FFC5-F381-EA11-8E9211284A9C}"/>
              </a:ext>
            </a:extLst>
          </p:cNvPr>
          <p:cNvSpPr>
            <a:spLocks noGrp="1"/>
          </p:cNvSpPr>
          <p:nvPr>
            <p:ph type="body" idx="1"/>
          </p:nvPr>
        </p:nvSpPr>
        <p:spPr>
          <a:xfrm>
            <a:off x="1113367" y="407458"/>
            <a:ext cx="6917266" cy="4328583"/>
          </a:xfrm>
        </p:spPr>
        <p:txBody>
          <a:bodyPr/>
          <a:lstStyle/>
          <a:p>
            <a:pPr marL="152400" indent="0">
              <a:buNone/>
            </a:pPr>
            <a:r>
              <a:rPr lang="en-US" sz="2000" b="1" dirty="0">
                <a:solidFill>
                  <a:schemeClr val="tx1">
                    <a:lumMod val="50000"/>
                  </a:schemeClr>
                </a:solidFill>
                <a:latin typeface="Times New Roman" panose="02020603050405020304" pitchFamily="18" charset="0"/>
                <a:cs typeface="Times New Roman" panose="02020603050405020304" pitchFamily="18" charset="0"/>
              </a:rPr>
              <a:t>ADABOOST</a:t>
            </a:r>
          </a:p>
          <a:p>
            <a:pPr marL="152400" indent="0" algn="just">
              <a:lnSpc>
                <a:spcPct val="200000"/>
              </a:lnSpc>
              <a:buNone/>
            </a:pPr>
            <a:endParaRPr lang="en-US" sz="1800" b="1" dirty="0">
              <a:solidFill>
                <a:schemeClr val="tx1">
                  <a:lumMod val="50000"/>
                </a:schemeClr>
              </a:solidFill>
              <a:latin typeface="Times New Roman" panose="02020603050405020304" pitchFamily="18" charset="0"/>
              <a:cs typeface="Times New Roman" panose="02020603050405020304" pitchFamily="18" charset="0"/>
            </a:endParaRP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Combines multiple weak classifiers.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Improves prediction step by step.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Reduces classification errors effectively.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Enhances overall model accuracy</a:t>
            </a:r>
            <a:r>
              <a:rPr lang="en-US" sz="1800" dirty="0"/>
              <a:t>. </a:t>
            </a:r>
          </a:p>
          <a:p>
            <a:pPr algn="just">
              <a:lnSpc>
                <a:spcPct val="200000"/>
              </a:lnSpc>
            </a:pPr>
            <a:endParaRPr lang="en-US" sz="1800" dirty="0"/>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2185480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33AC3272-F540-6FE6-7AE9-BF7B68988709}"/>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2B025F1B-BC3E-890E-4DF9-DE4716E41C48}"/>
              </a:ext>
            </a:extLst>
          </p:cNvPr>
          <p:cNvSpPr>
            <a:spLocks noGrp="1"/>
          </p:cNvSpPr>
          <p:nvPr>
            <p:ph type="body" idx="1"/>
          </p:nvPr>
        </p:nvSpPr>
        <p:spPr>
          <a:xfrm>
            <a:off x="1113367" y="407458"/>
            <a:ext cx="6917266" cy="4328583"/>
          </a:xfrm>
        </p:spPr>
        <p:txBody>
          <a:bodyPr/>
          <a:lstStyle/>
          <a:p>
            <a:pPr marL="152400" indent="0">
              <a:lnSpc>
                <a:spcPct val="200000"/>
              </a:lnSpc>
              <a:buNone/>
            </a:pPr>
            <a:r>
              <a:rPr lang="en-US" sz="2000" b="1" dirty="0">
                <a:solidFill>
                  <a:schemeClr val="tx1">
                    <a:lumMod val="50000"/>
                  </a:schemeClr>
                </a:solidFill>
                <a:latin typeface="Times New Roman" panose="02020603050405020304" pitchFamily="18" charset="0"/>
                <a:cs typeface="Times New Roman" panose="02020603050405020304" pitchFamily="18" charset="0"/>
              </a:rPr>
              <a:t>CATBOOST</a:t>
            </a:r>
          </a:p>
          <a:p>
            <a:pPr marL="152400" indent="0">
              <a:lnSpc>
                <a:spcPct val="200000"/>
              </a:lnSpc>
              <a:buNone/>
            </a:pPr>
            <a:endParaRPr lang="en-US" sz="1800" b="1" dirty="0">
              <a:solidFill>
                <a:schemeClr val="tx1">
                  <a:lumMod val="50000"/>
                </a:schemeClr>
              </a:solidFill>
              <a:latin typeface="Times New Roman" panose="02020603050405020304" pitchFamily="18" charset="0"/>
              <a:cs typeface="Times New Roman" panose="02020603050405020304" pitchFamily="18" charset="0"/>
            </a:endParaRP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Gradient boosting algorithm for prediction.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Handles categorical features efficiently.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Reduces overfitting problems.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Provides high accuracy on medical datasets.</a:t>
            </a: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1540528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551F4920-0F07-BC83-AACA-D362DE3428BD}"/>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A9DAB7C8-2B57-14F7-A554-BC399760D8A3}"/>
              </a:ext>
            </a:extLst>
          </p:cNvPr>
          <p:cNvSpPr>
            <a:spLocks noGrp="1"/>
          </p:cNvSpPr>
          <p:nvPr>
            <p:ph type="body" idx="1"/>
          </p:nvPr>
        </p:nvSpPr>
        <p:spPr>
          <a:xfrm>
            <a:off x="1113367" y="407458"/>
            <a:ext cx="6917266" cy="4328583"/>
          </a:xfrm>
        </p:spPr>
        <p:txBody>
          <a:bodyPr/>
          <a:lstStyle/>
          <a:p>
            <a:pPr marL="152400" indent="0">
              <a:buNone/>
            </a:pPr>
            <a:r>
              <a:rPr lang="en-US" sz="2000" b="1" dirty="0">
                <a:solidFill>
                  <a:schemeClr val="tx1">
                    <a:lumMod val="50000"/>
                  </a:schemeClr>
                </a:solidFill>
                <a:latin typeface="Times New Roman" panose="02020603050405020304" pitchFamily="18" charset="0"/>
                <a:cs typeface="Times New Roman" panose="02020603050405020304" pitchFamily="18" charset="0"/>
              </a:rPr>
              <a:t>MODEL EVALUATION</a:t>
            </a:r>
          </a:p>
          <a:p>
            <a:pPr marL="152400" indent="0">
              <a:buNone/>
            </a:pPr>
            <a:endParaRPr lang="en-US" sz="1800" b="1" dirty="0">
              <a:solidFill>
                <a:schemeClr val="tx1">
                  <a:lumMod val="50000"/>
                </a:schemeClr>
              </a:solidFill>
              <a:latin typeface="Times New Roman" panose="02020603050405020304" pitchFamily="18" charset="0"/>
              <a:cs typeface="Times New Roman" panose="02020603050405020304" pitchFamily="18" charset="0"/>
            </a:endParaRP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Accuracy score is used to measure prediction performance.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Precision, Recall, and F1-Score evaluate classification quality.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Confusion Matrix is used to analyze prediction results. </a:t>
            </a:r>
          </a:p>
          <a:p>
            <a:pPr>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ROC Curve and AUC Score measure model effectiveness.</a:t>
            </a: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25170785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EE478428-79B0-349B-6B06-FEF8C5575AB1}"/>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365E2B17-CEA9-4CA8-D9C3-99687CC6E39E}"/>
              </a:ext>
            </a:extLst>
          </p:cNvPr>
          <p:cNvSpPr>
            <a:spLocks noGrp="1"/>
          </p:cNvSpPr>
          <p:nvPr>
            <p:ph type="body" idx="1"/>
          </p:nvPr>
        </p:nvSpPr>
        <p:spPr>
          <a:xfrm>
            <a:off x="965200" y="110068"/>
            <a:ext cx="6400799" cy="4927599"/>
          </a:xfrm>
        </p:spPr>
        <p:txBody>
          <a:bodyPr/>
          <a:lstStyle/>
          <a:p>
            <a:pPr marL="152400" indent="0" algn="just">
              <a:lnSpc>
                <a:spcPct val="200000"/>
              </a:lnSpc>
              <a:buNone/>
            </a:pPr>
            <a:r>
              <a:rPr lang="en-US" sz="1800" b="1" dirty="0">
                <a:solidFill>
                  <a:schemeClr val="tx1">
                    <a:lumMod val="50000"/>
                  </a:schemeClr>
                </a:solidFill>
                <a:latin typeface="Times New Roman" panose="02020603050405020304" pitchFamily="18" charset="0"/>
                <a:cs typeface="Times New Roman" panose="02020603050405020304" pitchFamily="18" charset="0"/>
              </a:rPr>
              <a:t>MODEL EXPLAINABILITY (SHAP)</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SHAP (</a:t>
            </a:r>
            <a:r>
              <a:rPr lang="en-US" sz="1800" dirty="0" err="1">
                <a:solidFill>
                  <a:schemeClr val="tx1">
                    <a:lumMod val="50000"/>
                  </a:schemeClr>
                </a:solidFill>
                <a:latin typeface="Times New Roman" panose="02020603050405020304" pitchFamily="18" charset="0"/>
                <a:cs typeface="Times New Roman" panose="02020603050405020304" pitchFamily="18" charset="0"/>
              </a:rPr>
              <a:t>SHapley</a:t>
            </a:r>
            <a:r>
              <a:rPr lang="en-US" sz="1800" dirty="0">
                <a:solidFill>
                  <a:schemeClr val="tx1">
                    <a:lumMod val="50000"/>
                  </a:schemeClr>
                </a:solidFill>
                <a:latin typeface="Times New Roman" panose="02020603050405020304" pitchFamily="18" charset="0"/>
                <a:cs typeface="Times New Roman" panose="02020603050405020304" pitchFamily="18" charset="0"/>
              </a:rPr>
              <a:t> Additive Explanations) is used to explain model predictions.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It shows the importance of each feature in thyroid disease prediction.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Features like TSH and FTI highly influence the prediction results. </a:t>
            </a:r>
          </a:p>
          <a:p>
            <a:pPr algn="just">
              <a:lnSpc>
                <a:spcPct val="200000"/>
              </a:lnSpc>
            </a:pPr>
            <a:r>
              <a:rPr lang="en-US" sz="1800" dirty="0">
                <a:solidFill>
                  <a:schemeClr val="tx1">
                    <a:lumMod val="50000"/>
                  </a:schemeClr>
                </a:solidFill>
                <a:latin typeface="Times New Roman" panose="02020603050405020304" pitchFamily="18" charset="0"/>
                <a:cs typeface="Times New Roman" panose="02020603050405020304" pitchFamily="18" charset="0"/>
              </a:rPr>
              <a:t>SHAP improves transparency and trust in machine learning models. </a:t>
            </a: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2355125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45B1B10F-6184-378A-2AF7-545A155FFB8A}"/>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D7E91611-4710-BF0C-11D6-F162A5838967}"/>
              </a:ext>
            </a:extLst>
          </p:cNvPr>
          <p:cNvSpPr>
            <a:spLocks noGrp="1"/>
          </p:cNvSpPr>
          <p:nvPr>
            <p:ph type="body" idx="1"/>
          </p:nvPr>
        </p:nvSpPr>
        <p:spPr>
          <a:xfrm>
            <a:off x="965200" y="440267"/>
            <a:ext cx="6400799" cy="4597400"/>
          </a:xfrm>
        </p:spPr>
        <p:txBody>
          <a:bodyPr/>
          <a:lstStyle/>
          <a:p>
            <a:pPr marL="152400" indent="0">
              <a:buNone/>
            </a:pPr>
            <a:r>
              <a:rPr lang="en-US" sz="2000" b="1" dirty="0">
                <a:solidFill>
                  <a:srgbClr val="0B131B"/>
                </a:solidFill>
                <a:latin typeface="Times New Roman" panose="02020603050405020304" pitchFamily="18" charset="0"/>
                <a:cs typeface="Times New Roman" panose="02020603050405020304" pitchFamily="18" charset="0"/>
              </a:rPr>
              <a:t>COUNTERFACTUAL EXPLAINABLE AI</a:t>
            </a:r>
          </a:p>
          <a:p>
            <a:pPr marL="152400" indent="0">
              <a:buNone/>
            </a:pPr>
            <a:endParaRPr lang="en-US" sz="1800" b="1" dirty="0">
              <a:solidFill>
                <a:srgbClr val="0B131B"/>
              </a:solidFill>
              <a:latin typeface="Times New Roman" panose="02020603050405020304" pitchFamily="18" charset="0"/>
              <a:cs typeface="Times New Roman" panose="02020603050405020304" pitchFamily="18" charset="0"/>
            </a:endParaRPr>
          </a:p>
          <a:p>
            <a:pPr>
              <a:lnSpc>
                <a:spcPct val="200000"/>
              </a:lnSpc>
              <a:buFont typeface="Arial" panose="020B0604020202020204" pitchFamily="34" charset="0"/>
              <a:buChar char="•"/>
            </a:pPr>
            <a:r>
              <a:rPr lang="en-US" sz="1800" dirty="0">
                <a:solidFill>
                  <a:srgbClr val="0B131B"/>
                </a:solidFill>
                <a:latin typeface="Times New Roman" panose="02020603050405020304" pitchFamily="18" charset="0"/>
                <a:cs typeface="Times New Roman" panose="02020603050405020304" pitchFamily="18" charset="0"/>
              </a:rPr>
              <a:t>Counterfactual AI explains how prediction results can change.</a:t>
            </a:r>
          </a:p>
          <a:p>
            <a:pPr>
              <a:lnSpc>
                <a:spcPct val="200000"/>
              </a:lnSpc>
              <a:buFont typeface="Arial" panose="020B0604020202020204" pitchFamily="34" charset="0"/>
              <a:buChar char="•"/>
            </a:pPr>
            <a:r>
              <a:rPr lang="en-US" sz="1800" dirty="0">
                <a:solidFill>
                  <a:srgbClr val="0B131B"/>
                </a:solidFill>
                <a:latin typeface="Times New Roman" panose="02020603050405020304" pitchFamily="18" charset="0"/>
                <a:cs typeface="Times New Roman" panose="02020603050405020304" pitchFamily="18" charset="0"/>
              </a:rPr>
              <a:t>It generates alternative patient conditions for different outcomes.</a:t>
            </a:r>
          </a:p>
          <a:p>
            <a:pPr>
              <a:lnSpc>
                <a:spcPct val="200000"/>
              </a:lnSpc>
              <a:buFont typeface="Arial" panose="020B0604020202020204" pitchFamily="34" charset="0"/>
              <a:buChar char="•"/>
            </a:pPr>
            <a:r>
              <a:rPr lang="en-US" sz="1800" dirty="0">
                <a:solidFill>
                  <a:srgbClr val="0B131B"/>
                </a:solidFill>
                <a:latin typeface="Times New Roman" panose="02020603050405020304" pitchFamily="18" charset="0"/>
                <a:cs typeface="Times New Roman" panose="02020603050405020304" pitchFamily="18" charset="0"/>
              </a:rPr>
              <a:t>Helps understand important medical feature changes.</a:t>
            </a:r>
          </a:p>
          <a:p>
            <a:pPr>
              <a:lnSpc>
                <a:spcPct val="200000"/>
              </a:lnSpc>
              <a:buFont typeface="Arial" panose="020B0604020202020204" pitchFamily="34" charset="0"/>
              <a:buChar char="•"/>
            </a:pPr>
            <a:r>
              <a:rPr lang="en-US" sz="1800" dirty="0">
                <a:solidFill>
                  <a:srgbClr val="0B131B"/>
                </a:solidFill>
                <a:latin typeface="Times New Roman" panose="02020603050405020304" pitchFamily="18" charset="0"/>
                <a:cs typeface="Times New Roman" panose="02020603050405020304" pitchFamily="18" charset="0"/>
              </a:rPr>
              <a:t>Improves transparency and interpretability of machine learning models.</a:t>
            </a: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spTree>
    <p:extLst>
      <p:ext uri="{BB962C8B-B14F-4D97-AF65-F5344CB8AC3E}">
        <p14:creationId xmlns:p14="http://schemas.microsoft.com/office/powerpoint/2010/main" val="3446328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E2A6DA-EEEA-34DC-D0D7-A7ECE90D4D8A}"/>
              </a:ext>
            </a:extLst>
          </p:cNvPr>
          <p:cNvPicPr>
            <a:picLocks noChangeAspect="1"/>
          </p:cNvPicPr>
          <p:nvPr/>
        </p:nvPicPr>
        <p:blipFill>
          <a:blip r:embed="rId2"/>
          <a:stretch>
            <a:fillRect/>
          </a:stretch>
        </p:blipFill>
        <p:spPr>
          <a:xfrm>
            <a:off x="1413627" y="965200"/>
            <a:ext cx="6316696" cy="4170183"/>
          </a:xfrm>
          <a:prstGeom prst="rect">
            <a:avLst/>
          </a:prstGeom>
        </p:spPr>
      </p:pic>
      <p:sp>
        <p:nvSpPr>
          <p:cNvPr id="4" name="Title 3">
            <a:extLst>
              <a:ext uri="{FF2B5EF4-FFF2-40B4-BE49-F238E27FC236}">
                <a16:creationId xmlns:a16="http://schemas.microsoft.com/office/drawing/2014/main" id="{9680A28B-3F64-6FAA-A537-A5BBE6D4E5E0}"/>
              </a:ext>
            </a:extLst>
          </p:cNvPr>
          <p:cNvSpPr>
            <a:spLocks noGrp="1"/>
          </p:cNvSpPr>
          <p:nvPr>
            <p:ph type="title"/>
          </p:nvPr>
        </p:nvSpPr>
        <p:spPr>
          <a:xfrm>
            <a:off x="629242" y="152400"/>
            <a:ext cx="7699200" cy="812799"/>
          </a:xfrm>
        </p:spPr>
        <p:txBody>
          <a:bodyPr/>
          <a:lstStyle/>
          <a:p>
            <a:pPr algn="ctr"/>
            <a:r>
              <a:rPr lang="en-IN" sz="4000" dirty="0">
                <a:solidFill>
                  <a:srgbClr val="00B050"/>
                </a:solidFill>
                <a:latin typeface="Times New Roman" panose="02020603050405020304" pitchFamily="18" charset="0"/>
                <a:cs typeface="Times New Roman" panose="02020603050405020304" pitchFamily="18" charset="0"/>
              </a:rPr>
              <a:t>DATA VISUALIZATION</a:t>
            </a:r>
          </a:p>
        </p:txBody>
      </p:sp>
    </p:spTree>
    <p:extLst>
      <p:ext uri="{BB962C8B-B14F-4D97-AF65-F5344CB8AC3E}">
        <p14:creationId xmlns:p14="http://schemas.microsoft.com/office/powerpoint/2010/main" val="221349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6A7A83-4995-6124-8994-3ED21456ECAE}"/>
              </a:ext>
            </a:extLst>
          </p:cNvPr>
          <p:cNvPicPr>
            <a:picLocks noChangeAspect="1"/>
          </p:cNvPicPr>
          <p:nvPr/>
        </p:nvPicPr>
        <p:blipFill>
          <a:blip r:embed="rId2"/>
          <a:stretch>
            <a:fillRect/>
          </a:stretch>
        </p:blipFill>
        <p:spPr>
          <a:xfrm>
            <a:off x="1083733" y="457201"/>
            <a:ext cx="6857999" cy="4572952"/>
          </a:xfrm>
          <a:prstGeom prst="rect">
            <a:avLst/>
          </a:prstGeom>
        </p:spPr>
      </p:pic>
    </p:spTree>
    <p:extLst>
      <p:ext uri="{BB962C8B-B14F-4D97-AF65-F5344CB8AC3E}">
        <p14:creationId xmlns:p14="http://schemas.microsoft.com/office/powerpoint/2010/main" val="8219390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1FD9F48-7A1C-9B31-ADA7-7E60EAFF2569}"/>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AB69410-18C1-F122-4C75-CFD81CCFDD2D}"/>
              </a:ext>
            </a:extLst>
          </p:cNvPr>
          <p:cNvSpPr>
            <a:spLocks noGrp="1"/>
          </p:cNvSpPr>
          <p:nvPr>
            <p:ph type="body" idx="1"/>
          </p:nvPr>
        </p:nvSpPr>
        <p:spPr>
          <a:xfrm>
            <a:off x="965200" y="228600"/>
            <a:ext cx="6400799" cy="4529667"/>
          </a:xfrm>
        </p:spPr>
        <p:txBody>
          <a:bodyPr/>
          <a:lstStyle/>
          <a:p>
            <a:pPr algn="just">
              <a:lnSpc>
                <a:spcPct val="200000"/>
              </a:lnSpc>
            </a:pPr>
            <a:endParaRPr lang="en-US" sz="1800" dirty="0">
              <a:latin typeface="Times New Roman" panose="02020603050405020304" pitchFamily="18" charset="0"/>
              <a:cs typeface="Times New Roman" panose="02020603050405020304" pitchFamily="18" charset="0"/>
            </a:endParaRPr>
          </a:p>
          <a:p>
            <a:pPr marL="152400" indent="0" algn="just">
              <a:lnSpc>
                <a:spcPct val="150000"/>
              </a:lnSpc>
              <a:buNone/>
            </a:pPr>
            <a:endParaRPr lang="en-IN" sz="1800" b="1" dirty="0">
              <a:solidFill>
                <a:srgbClr val="0B131B"/>
              </a:solidFill>
              <a:latin typeface="Times New Roman" panose="02020603050405020304" pitchFamily="18" charset="0"/>
              <a:ea typeface="Cascadia Mono" panose="020B0609020000020004" pitchFamily="49" charset="0"/>
              <a:cs typeface="Times New Roman" panose="02020603050405020304" pitchFamily="18" charset="0"/>
            </a:endParaRPr>
          </a:p>
        </p:txBody>
      </p:sp>
      <p:pic>
        <p:nvPicPr>
          <p:cNvPr id="3" name="Picture 2">
            <a:extLst>
              <a:ext uri="{FF2B5EF4-FFF2-40B4-BE49-F238E27FC236}">
                <a16:creationId xmlns:a16="http://schemas.microsoft.com/office/drawing/2014/main" id="{A3944017-400A-BD7C-1658-9CB003C3D6F7}"/>
              </a:ext>
            </a:extLst>
          </p:cNvPr>
          <p:cNvPicPr>
            <a:picLocks noChangeAspect="1"/>
          </p:cNvPicPr>
          <p:nvPr/>
        </p:nvPicPr>
        <p:blipFill>
          <a:blip r:embed="rId3"/>
          <a:stretch>
            <a:fillRect/>
          </a:stretch>
        </p:blipFill>
        <p:spPr>
          <a:xfrm>
            <a:off x="1473200" y="592668"/>
            <a:ext cx="6028267" cy="3869266"/>
          </a:xfrm>
          <a:prstGeom prst="rect">
            <a:avLst/>
          </a:prstGeom>
        </p:spPr>
      </p:pic>
    </p:spTree>
    <p:extLst>
      <p:ext uri="{BB962C8B-B14F-4D97-AF65-F5344CB8AC3E}">
        <p14:creationId xmlns:p14="http://schemas.microsoft.com/office/powerpoint/2010/main" val="641141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910BF03-48A5-37FC-0B70-CEA6E239D925}"/>
              </a:ext>
            </a:extLst>
          </p:cNvPr>
          <p:cNvPicPr>
            <a:picLocks noChangeAspect="1"/>
          </p:cNvPicPr>
          <p:nvPr/>
        </p:nvPicPr>
        <p:blipFill>
          <a:blip r:embed="rId2"/>
          <a:stretch>
            <a:fillRect/>
          </a:stretch>
        </p:blipFill>
        <p:spPr>
          <a:xfrm>
            <a:off x="782313" y="560732"/>
            <a:ext cx="7057821" cy="4377636"/>
          </a:xfrm>
          <a:prstGeom prst="rect">
            <a:avLst/>
          </a:prstGeom>
        </p:spPr>
      </p:pic>
    </p:spTree>
    <p:extLst>
      <p:ext uri="{BB962C8B-B14F-4D97-AF65-F5344CB8AC3E}">
        <p14:creationId xmlns:p14="http://schemas.microsoft.com/office/powerpoint/2010/main" val="17375629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64340B-19B7-D31E-4157-CE03FDBDD48B}"/>
              </a:ext>
            </a:extLst>
          </p:cNvPr>
          <p:cNvPicPr>
            <a:picLocks noChangeAspect="1"/>
          </p:cNvPicPr>
          <p:nvPr/>
        </p:nvPicPr>
        <p:blipFill>
          <a:blip r:embed="rId2"/>
          <a:stretch>
            <a:fillRect/>
          </a:stretch>
        </p:blipFill>
        <p:spPr>
          <a:xfrm>
            <a:off x="931333" y="174977"/>
            <a:ext cx="7052734" cy="4701822"/>
          </a:xfrm>
          <a:prstGeom prst="rect">
            <a:avLst/>
          </a:prstGeom>
        </p:spPr>
      </p:pic>
    </p:spTree>
    <p:extLst>
      <p:ext uri="{BB962C8B-B14F-4D97-AF65-F5344CB8AC3E}">
        <p14:creationId xmlns:p14="http://schemas.microsoft.com/office/powerpoint/2010/main" val="11273417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97CD121C-671C-9B38-CE5A-6FE99A49269E}"/>
            </a:ext>
          </a:extLst>
        </p:cNvPr>
        <p:cNvGrpSpPr/>
        <p:nvPr/>
      </p:nvGrpSpPr>
      <p:grpSpPr>
        <a:xfrm>
          <a:off x="0" y="0"/>
          <a:ext cx="0" cy="0"/>
          <a:chOff x="0" y="0"/>
          <a:chExt cx="0" cy="0"/>
        </a:xfrm>
      </p:grpSpPr>
      <p:pic>
        <p:nvPicPr>
          <p:cNvPr id="232" name="Google Shape;232;p31">
            <a:extLst>
              <a:ext uri="{FF2B5EF4-FFF2-40B4-BE49-F238E27FC236}">
                <a16:creationId xmlns:a16="http://schemas.microsoft.com/office/drawing/2014/main" id="{AB59B280-6672-C19D-457A-1C4AB01B04AE}"/>
              </a:ext>
            </a:extLst>
          </p:cNvPr>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a:extLst>
              <a:ext uri="{FF2B5EF4-FFF2-40B4-BE49-F238E27FC236}">
                <a16:creationId xmlns:a16="http://schemas.microsoft.com/office/drawing/2014/main" id="{25DB7AA8-7605-6A59-05A4-42152ECFF20D}"/>
              </a:ext>
            </a:extLst>
          </p:cNvPr>
          <p:cNvSpPr txBox="1">
            <a:spLocks noGrp="1"/>
          </p:cNvSpPr>
          <p:nvPr>
            <p:ph type="title"/>
          </p:nvPr>
        </p:nvSpPr>
        <p:spPr>
          <a:xfrm>
            <a:off x="3779002" y="2196192"/>
            <a:ext cx="5250698" cy="1738993"/>
          </a:xfrm>
          <a:prstGeom prst="rect">
            <a:avLst/>
          </a:prstGeom>
        </p:spPr>
        <p:txBody>
          <a:bodyPr spcFirstLastPara="1" wrap="square" lIns="91425" tIns="91425" rIns="91425" bIns="91425" anchor="t" anchorCtr="0">
            <a:noAutofit/>
          </a:bodyPr>
          <a:lstStyle/>
          <a:p>
            <a:pPr lvl="0" algn="ctr"/>
            <a:r>
              <a:rPr lang="en-IN" sz="4800" spc="-10" dirty="0">
                <a:solidFill>
                  <a:srgbClr val="00B050"/>
                </a:solidFill>
                <a:latin typeface="Times New Roman" panose="02020603050405020304" pitchFamily="18" charset="0"/>
                <a:cs typeface="Times New Roman" panose="02020603050405020304" pitchFamily="18" charset="0"/>
              </a:rPr>
              <a:t>UML DIAGRAMS</a:t>
            </a:r>
            <a:endParaRPr sz="4800" dirty="0">
              <a:solidFill>
                <a:srgbClr val="00B050"/>
              </a:solidFill>
              <a:latin typeface="Times New Roman" panose="02020603050405020304" pitchFamily="18" charset="0"/>
              <a:cs typeface="Times New Roman" panose="02020603050405020304" pitchFamily="18" charset="0"/>
            </a:endParaRPr>
          </a:p>
        </p:txBody>
      </p:sp>
      <p:sp>
        <p:nvSpPr>
          <p:cNvPr id="236" name="Google Shape;236;p31">
            <a:extLst>
              <a:ext uri="{FF2B5EF4-FFF2-40B4-BE49-F238E27FC236}">
                <a16:creationId xmlns:a16="http://schemas.microsoft.com/office/drawing/2014/main" id="{93BBE8C6-694B-9B70-84E1-8FB2A62ED07F}"/>
              </a:ext>
            </a:extLst>
          </p:cNvPr>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a:extLst>
              <a:ext uri="{FF2B5EF4-FFF2-40B4-BE49-F238E27FC236}">
                <a16:creationId xmlns:a16="http://schemas.microsoft.com/office/drawing/2014/main" id="{0E604E45-AFB0-63F8-FE00-76229718AE3D}"/>
              </a:ext>
            </a:extLst>
          </p:cNvPr>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a:extLst>
              <a:ext uri="{FF2B5EF4-FFF2-40B4-BE49-F238E27FC236}">
                <a16:creationId xmlns:a16="http://schemas.microsoft.com/office/drawing/2014/main" id="{6976857E-102B-919D-8615-3188590FAE03}"/>
              </a:ext>
            </a:extLst>
          </p:cNvPr>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a:extLst>
              <a:ext uri="{FF2B5EF4-FFF2-40B4-BE49-F238E27FC236}">
                <a16:creationId xmlns:a16="http://schemas.microsoft.com/office/drawing/2014/main" id="{96BB06FC-C084-AD53-C97A-9F6CDFD7229C}"/>
              </a:ext>
            </a:extLst>
          </p:cNvPr>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a:extLst>
              <a:ext uri="{FF2B5EF4-FFF2-40B4-BE49-F238E27FC236}">
                <a16:creationId xmlns:a16="http://schemas.microsoft.com/office/drawing/2014/main" id="{18D37A79-9E9C-CD96-3D53-261B5A506002}"/>
              </a:ext>
            </a:extLst>
          </p:cNvPr>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extLst>
      <p:ext uri="{BB962C8B-B14F-4D97-AF65-F5344CB8AC3E}">
        <p14:creationId xmlns:p14="http://schemas.microsoft.com/office/powerpoint/2010/main" val="2498104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8E628CAF-9D74-A36F-4A36-95D65C4A8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1AC66-39F6-643E-C0B5-186C46F13BB9}"/>
              </a:ext>
            </a:extLst>
          </p:cNvPr>
          <p:cNvSpPr>
            <a:spLocks noGrp="1"/>
          </p:cNvSpPr>
          <p:nvPr>
            <p:ph type="title"/>
          </p:nvPr>
        </p:nvSpPr>
        <p:spPr>
          <a:xfrm>
            <a:off x="812182" y="155778"/>
            <a:ext cx="7699200" cy="572700"/>
          </a:xfrm>
        </p:spPr>
        <p:txBody>
          <a:bodyPr/>
          <a:lstStyle/>
          <a:p>
            <a:pPr algn="ctr"/>
            <a:r>
              <a:rPr lang="en-IN" sz="4000" dirty="0">
                <a:solidFill>
                  <a:srgbClr val="00B050"/>
                </a:solidFill>
                <a:latin typeface="Times New Roman" panose="02020603050405020304" pitchFamily="18" charset="0"/>
                <a:cs typeface="Times New Roman" panose="02020603050405020304" pitchFamily="18" charset="0"/>
              </a:rPr>
              <a:t>USE CASE DIAGRAM</a:t>
            </a:r>
          </a:p>
        </p:txBody>
      </p:sp>
      <p:pic>
        <p:nvPicPr>
          <p:cNvPr id="4" name="Picture 3">
            <a:extLst>
              <a:ext uri="{FF2B5EF4-FFF2-40B4-BE49-F238E27FC236}">
                <a16:creationId xmlns:a16="http://schemas.microsoft.com/office/drawing/2014/main" id="{933D28E7-9BE6-CF0C-25F3-A28F66DC37AE}"/>
              </a:ext>
            </a:extLst>
          </p:cNvPr>
          <p:cNvPicPr>
            <a:picLocks noChangeAspect="1"/>
          </p:cNvPicPr>
          <p:nvPr/>
        </p:nvPicPr>
        <p:blipFill>
          <a:blip r:embed="rId3"/>
          <a:stretch>
            <a:fillRect/>
          </a:stretch>
        </p:blipFill>
        <p:spPr>
          <a:xfrm>
            <a:off x="1694089" y="979714"/>
            <a:ext cx="5902779" cy="3935186"/>
          </a:xfrm>
          <a:prstGeom prst="rect">
            <a:avLst/>
          </a:prstGeom>
        </p:spPr>
      </p:pic>
    </p:spTree>
    <p:extLst>
      <p:ext uri="{BB962C8B-B14F-4D97-AF65-F5344CB8AC3E}">
        <p14:creationId xmlns:p14="http://schemas.microsoft.com/office/powerpoint/2010/main" val="1927727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36E6B838-3018-B287-ADBB-B6A578B71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2B0F4-6717-CD43-F6AC-FA9DA41149AB}"/>
              </a:ext>
            </a:extLst>
          </p:cNvPr>
          <p:cNvSpPr>
            <a:spLocks noGrp="1"/>
          </p:cNvSpPr>
          <p:nvPr>
            <p:ph type="title"/>
          </p:nvPr>
        </p:nvSpPr>
        <p:spPr>
          <a:xfrm>
            <a:off x="722400" y="114956"/>
            <a:ext cx="7699200" cy="572700"/>
          </a:xfrm>
        </p:spPr>
        <p:txBody>
          <a:bodyPr/>
          <a:lstStyle/>
          <a:p>
            <a:pPr algn="ctr"/>
            <a:r>
              <a:rPr lang="en-IN" sz="4000" dirty="0">
                <a:solidFill>
                  <a:srgbClr val="00B050"/>
                </a:solidFill>
                <a:latin typeface="Times New Roman" panose="02020603050405020304" pitchFamily="18" charset="0"/>
                <a:cs typeface="Times New Roman" panose="02020603050405020304" pitchFamily="18" charset="0"/>
              </a:rPr>
              <a:t>CLASS  DIAGRAM</a:t>
            </a:r>
          </a:p>
        </p:txBody>
      </p:sp>
      <p:pic>
        <p:nvPicPr>
          <p:cNvPr id="6" name="Picture 5">
            <a:extLst>
              <a:ext uri="{FF2B5EF4-FFF2-40B4-BE49-F238E27FC236}">
                <a16:creationId xmlns:a16="http://schemas.microsoft.com/office/drawing/2014/main" id="{785E7835-4CD1-D391-FC0B-EA83098987E8}"/>
              </a:ext>
            </a:extLst>
          </p:cNvPr>
          <p:cNvPicPr>
            <a:picLocks noChangeAspect="1"/>
          </p:cNvPicPr>
          <p:nvPr/>
        </p:nvPicPr>
        <p:blipFill>
          <a:blip r:embed="rId3"/>
          <a:stretch>
            <a:fillRect/>
          </a:stretch>
        </p:blipFill>
        <p:spPr>
          <a:xfrm>
            <a:off x="1747157" y="881742"/>
            <a:ext cx="6270687" cy="4180458"/>
          </a:xfrm>
          <a:prstGeom prst="rect">
            <a:avLst/>
          </a:prstGeom>
        </p:spPr>
      </p:pic>
    </p:spTree>
    <p:extLst>
      <p:ext uri="{BB962C8B-B14F-4D97-AF65-F5344CB8AC3E}">
        <p14:creationId xmlns:p14="http://schemas.microsoft.com/office/powerpoint/2010/main" val="15431138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4237CF57-36A7-E662-F4D6-DD6170F911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C7F93-A6B2-8795-896D-5B6A0D697B73}"/>
              </a:ext>
            </a:extLst>
          </p:cNvPr>
          <p:cNvSpPr>
            <a:spLocks noGrp="1"/>
          </p:cNvSpPr>
          <p:nvPr>
            <p:ph type="title"/>
          </p:nvPr>
        </p:nvSpPr>
        <p:spPr>
          <a:xfrm>
            <a:off x="804018" y="71927"/>
            <a:ext cx="7699200" cy="572700"/>
          </a:xfrm>
        </p:spPr>
        <p:txBody>
          <a:bodyPr/>
          <a:lstStyle/>
          <a:p>
            <a:pPr algn="ctr"/>
            <a:r>
              <a:rPr lang="en-IN" sz="4000" dirty="0">
                <a:solidFill>
                  <a:srgbClr val="00B050"/>
                </a:solidFill>
                <a:latin typeface="Times New Roman" panose="02020603050405020304" pitchFamily="18" charset="0"/>
                <a:cs typeface="Times New Roman" panose="02020603050405020304" pitchFamily="18" charset="0"/>
              </a:rPr>
              <a:t>SEQUENCE  DIAGRAM</a:t>
            </a:r>
          </a:p>
        </p:txBody>
      </p:sp>
      <p:pic>
        <p:nvPicPr>
          <p:cNvPr id="6" name="Picture 5">
            <a:extLst>
              <a:ext uri="{FF2B5EF4-FFF2-40B4-BE49-F238E27FC236}">
                <a16:creationId xmlns:a16="http://schemas.microsoft.com/office/drawing/2014/main" id="{5734E9E7-2B70-9C31-8020-0EDDB79787E4}"/>
              </a:ext>
            </a:extLst>
          </p:cNvPr>
          <p:cNvPicPr>
            <a:picLocks noChangeAspect="1"/>
          </p:cNvPicPr>
          <p:nvPr/>
        </p:nvPicPr>
        <p:blipFill>
          <a:blip r:embed="rId3"/>
          <a:stretch>
            <a:fillRect/>
          </a:stretch>
        </p:blipFill>
        <p:spPr>
          <a:xfrm>
            <a:off x="1330052" y="955221"/>
            <a:ext cx="6938049" cy="4149142"/>
          </a:xfrm>
          <a:prstGeom prst="rect">
            <a:avLst/>
          </a:prstGeom>
        </p:spPr>
      </p:pic>
    </p:spTree>
    <p:extLst>
      <p:ext uri="{BB962C8B-B14F-4D97-AF65-F5344CB8AC3E}">
        <p14:creationId xmlns:p14="http://schemas.microsoft.com/office/powerpoint/2010/main" val="21954845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77">
          <a:extLst>
            <a:ext uri="{FF2B5EF4-FFF2-40B4-BE49-F238E27FC236}">
              <a16:creationId xmlns:a16="http://schemas.microsoft.com/office/drawing/2014/main" id="{7ED2FFCE-D582-B536-81E5-2790968F7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B3C77-E42B-39E4-640F-6D29C4BCAC22}"/>
              </a:ext>
            </a:extLst>
          </p:cNvPr>
          <p:cNvSpPr>
            <a:spLocks noGrp="1"/>
          </p:cNvSpPr>
          <p:nvPr>
            <p:ph type="title"/>
          </p:nvPr>
        </p:nvSpPr>
        <p:spPr>
          <a:xfrm>
            <a:off x="956561" y="105701"/>
            <a:ext cx="7699200" cy="572700"/>
          </a:xfrm>
        </p:spPr>
        <p:txBody>
          <a:bodyPr/>
          <a:lstStyle/>
          <a:p>
            <a:pPr algn="ctr"/>
            <a:r>
              <a:rPr lang="en-IN" sz="4000" dirty="0">
                <a:solidFill>
                  <a:srgbClr val="00B050"/>
                </a:solidFill>
                <a:latin typeface="Times New Roman" panose="02020603050405020304" pitchFamily="18" charset="0"/>
                <a:cs typeface="Times New Roman" panose="02020603050405020304" pitchFamily="18" charset="0"/>
              </a:rPr>
              <a:t>ACTIVITY  DIAGRAM</a:t>
            </a:r>
          </a:p>
        </p:txBody>
      </p:sp>
      <p:pic>
        <p:nvPicPr>
          <p:cNvPr id="3" name="Picture 2">
            <a:extLst>
              <a:ext uri="{FF2B5EF4-FFF2-40B4-BE49-F238E27FC236}">
                <a16:creationId xmlns:a16="http://schemas.microsoft.com/office/drawing/2014/main" id="{455FEDE4-FB8C-9CF5-8E2F-D1D7B4D65A03}"/>
              </a:ext>
            </a:extLst>
          </p:cNvPr>
          <p:cNvPicPr>
            <a:picLocks noChangeAspect="1"/>
          </p:cNvPicPr>
          <p:nvPr/>
        </p:nvPicPr>
        <p:blipFill>
          <a:blip r:embed="rId3"/>
          <a:stretch>
            <a:fillRect/>
          </a:stretch>
        </p:blipFill>
        <p:spPr>
          <a:xfrm>
            <a:off x="1626669" y="821574"/>
            <a:ext cx="6186552" cy="4216225"/>
          </a:xfrm>
          <a:prstGeom prst="rect">
            <a:avLst/>
          </a:prstGeom>
        </p:spPr>
      </p:pic>
    </p:spTree>
    <p:extLst>
      <p:ext uri="{BB962C8B-B14F-4D97-AF65-F5344CB8AC3E}">
        <p14:creationId xmlns:p14="http://schemas.microsoft.com/office/powerpoint/2010/main" val="8349329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EE971D2C-8F78-BE83-3998-691C4E5A9736}"/>
            </a:ext>
          </a:extLst>
        </p:cNvPr>
        <p:cNvGrpSpPr/>
        <p:nvPr/>
      </p:nvGrpSpPr>
      <p:grpSpPr>
        <a:xfrm>
          <a:off x="0" y="0"/>
          <a:ext cx="0" cy="0"/>
          <a:chOff x="0" y="0"/>
          <a:chExt cx="0" cy="0"/>
        </a:xfrm>
      </p:grpSpPr>
      <p:pic>
        <p:nvPicPr>
          <p:cNvPr id="232" name="Google Shape;232;p31">
            <a:extLst>
              <a:ext uri="{FF2B5EF4-FFF2-40B4-BE49-F238E27FC236}">
                <a16:creationId xmlns:a16="http://schemas.microsoft.com/office/drawing/2014/main" id="{5EE9B169-2E5B-7A02-D6B5-4043287A7D2F}"/>
              </a:ext>
            </a:extLst>
          </p:cNvPr>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a:extLst>
              <a:ext uri="{FF2B5EF4-FFF2-40B4-BE49-F238E27FC236}">
                <a16:creationId xmlns:a16="http://schemas.microsoft.com/office/drawing/2014/main" id="{AEAD8F7A-B19A-E020-8D96-3948B023A415}"/>
              </a:ext>
            </a:extLst>
          </p:cNvPr>
          <p:cNvSpPr txBox="1">
            <a:spLocks noGrp="1"/>
          </p:cNvSpPr>
          <p:nvPr>
            <p:ph type="title"/>
          </p:nvPr>
        </p:nvSpPr>
        <p:spPr>
          <a:xfrm>
            <a:off x="3779002" y="2196193"/>
            <a:ext cx="5131660" cy="1673678"/>
          </a:xfrm>
          <a:prstGeom prst="rect">
            <a:avLst/>
          </a:prstGeom>
        </p:spPr>
        <p:txBody>
          <a:bodyPr spcFirstLastPara="1" wrap="square" lIns="91425" tIns="91425" rIns="91425" bIns="91425" anchor="t" anchorCtr="0">
            <a:noAutofit/>
          </a:bodyPr>
          <a:lstStyle/>
          <a:p>
            <a:pPr lvl="0" algn="ctr"/>
            <a:r>
              <a:rPr lang="en-IN" sz="4800" spc="-10" dirty="0">
                <a:solidFill>
                  <a:srgbClr val="00B050"/>
                </a:solidFill>
                <a:latin typeface="Times New Roman" panose="02020603050405020304" pitchFamily="18" charset="0"/>
                <a:cs typeface="Times New Roman" panose="02020603050405020304" pitchFamily="18" charset="0"/>
              </a:rPr>
              <a:t>FUTURE SCOPE</a:t>
            </a:r>
            <a:endParaRPr sz="4800" dirty="0">
              <a:solidFill>
                <a:srgbClr val="00B050"/>
              </a:solidFill>
              <a:latin typeface="Times New Roman" panose="02020603050405020304" pitchFamily="18" charset="0"/>
              <a:cs typeface="Times New Roman" panose="02020603050405020304" pitchFamily="18" charset="0"/>
            </a:endParaRPr>
          </a:p>
        </p:txBody>
      </p:sp>
      <p:sp>
        <p:nvSpPr>
          <p:cNvPr id="236" name="Google Shape;236;p31">
            <a:extLst>
              <a:ext uri="{FF2B5EF4-FFF2-40B4-BE49-F238E27FC236}">
                <a16:creationId xmlns:a16="http://schemas.microsoft.com/office/drawing/2014/main" id="{B3EB48FB-E7B7-BEC1-E87D-3CED18DC3BF4}"/>
              </a:ext>
            </a:extLst>
          </p:cNvPr>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a:extLst>
              <a:ext uri="{FF2B5EF4-FFF2-40B4-BE49-F238E27FC236}">
                <a16:creationId xmlns:a16="http://schemas.microsoft.com/office/drawing/2014/main" id="{D4DBDB10-3E93-74AD-BFB7-9C30B7EC22B9}"/>
              </a:ext>
            </a:extLst>
          </p:cNvPr>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a:extLst>
              <a:ext uri="{FF2B5EF4-FFF2-40B4-BE49-F238E27FC236}">
                <a16:creationId xmlns:a16="http://schemas.microsoft.com/office/drawing/2014/main" id="{0994B1E2-18F9-B84A-AEB5-D0E3E66EC7A4}"/>
              </a:ext>
            </a:extLst>
          </p:cNvPr>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a:extLst>
              <a:ext uri="{FF2B5EF4-FFF2-40B4-BE49-F238E27FC236}">
                <a16:creationId xmlns:a16="http://schemas.microsoft.com/office/drawing/2014/main" id="{6534682B-E01D-D02F-C51A-CAC460CB0E5A}"/>
              </a:ext>
            </a:extLst>
          </p:cNvPr>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a:extLst>
              <a:ext uri="{FF2B5EF4-FFF2-40B4-BE49-F238E27FC236}">
                <a16:creationId xmlns:a16="http://schemas.microsoft.com/office/drawing/2014/main" id="{CA8D44A8-61D4-298E-A76E-6E82EFABE50C}"/>
              </a:ext>
            </a:extLst>
          </p:cNvPr>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extLst>
      <p:ext uri="{BB962C8B-B14F-4D97-AF65-F5344CB8AC3E}">
        <p14:creationId xmlns:p14="http://schemas.microsoft.com/office/powerpoint/2010/main" val="1989297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4D0A20AE-BC3D-E38D-7935-9F9F3D838A57}"/>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5F176699-6869-B05F-82CE-9F9D9F097B67}"/>
              </a:ext>
            </a:extLst>
          </p:cNvPr>
          <p:cNvSpPr>
            <a:spLocks noGrp="1"/>
          </p:cNvSpPr>
          <p:nvPr>
            <p:ph type="body" idx="1"/>
          </p:nvPr>
        </p:nvSpPr>
        <p:spPr>
          <a:xfrm>
            <a:off x="722375" y="474133"/>
            <a:ext cx="8150692" cy="4478867"/>
          </a:xfrm>
        </p:spPr>
        <p:txBody>
          <a:bodyPr/>
          <a:lstStyle/>
          <a:p>
            <a:pPr algn="just">
              <a:lnSpc>
                <a:spcPct val="200000"/>
              </a:lnSpc>
              <a:buFont typeface="Wingdings" panose="05000000000000000000" pitchFamily="2" charset="2"/>
              <a:buChar char="q"/>
            </a:pPr>
            <a:r>
              <a:rPr lang="en-US" sz="1600" dirty="0">
                <a:solidFill>
                  <a:srgbClr val="0B131B"/>
                </a:solidFill>
                <a:latin typeface="Times New Roman" panose="02020603050405020304" pitchFamily="18" charset="0"/>
                <a:cs typeface="Times New Roman" panose="02020603050405020304" pitchFamily="18" charset="0"/>
              </a:rPr>
              <a:t>Implement deep learning models to achieve higher accuracy in thyroid disease prediction. </a:t>
            </a:r>
            <a:br>
              <a:rPr lang="en-US" sz="1600" dirty="0">
                <a:solidFill>
                  <a:srgbClr val="0B131B"/>
                </a:solidFill>
                <a:latin typeface="Times New Roman" panose="02020603050405020304" pitchFamily="18" charset="0"/>
                <a:cs typeface="Times New Roman" panose="02020603050405020304" pitchFamily="18" charset="0"/>
              </a:rPr>
            </a:br>
            <a:endParaRPr lang="en-US" sz="1600" dirty="0">
              <a:solidFill>
                <a:srgbClr val="0B131B"/>
              </a:solidFill>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q"/>
            </a:pPr>
            <a:r>
              <a:rPr lang="en-US" sz="1600" dirty="0">
                <a:solidFill>
                  <a:srgbClr val="0B131B"/>
                </a:solidFill>
                <a:latin typeface="Times New Roman" panose="02020603050405020304" pitchFamily="18" charset="0"/>
                <a:cs typeface="Times New Roman" panose="02020603050405020304" pitchFamily="18" charset="0"/>
              </a:rPr>
              <a:t> Develop web and mobile applications for real-time thyroid diagnosis and monitoring. </a:t>
            </a:r>
            <a:br>
              <a:rPr lang="en-US" sz="1600" dirty="0">
                <a:solidFill>
                  <a:srgbClr val="0B131B"/>
                </a:solidFill>
                <a:latin typeface="Times New Roman" panose="02020603050405020304" pitchFamily="18" charset="0"/>
                <a:cs typeface="Times New Roman" panose="02020603050405020304" pitchFamily="18" charset="0"/>
              </a:rPr>
            </a:br>
            <a:endParaRPr lang="en-US" sz="1600" dirty="0">
              <a:solidFill>
                <a:srgbClr val="0B131B"/>
              </a:solidFill>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q"/>
            </a:pPr>
            <a:r>
              <a:rPr lang="en-US" sz="1600" dirty="0">
                <a:solidFill>
                  <a:srgbClr val="0B131B"/>
                </a:solidFill>
                <a:latin typeface="Times New Roman" panose="02020603050405020304" pitchFamily="18" charset="0"/>
                <a:cs typeface="Times New Roman" panose="02020603050405020304" pitchFamily="18" charset="0"/>
              </a:rPr>
              <a:t>Use larger real-world healthcare datasets to improve model performance and reliability. </a:t>
            </a:r>
            <a:br>
              <a:rPr lang="en-US" sz="1600" dirty="0">
                <a:solidFill>
                  <a:srgbClr val="0B131B"/>
                </a:solidFill>
                <a:latin typeface="Times New Roman" panose="02020603050405020304" pitchFamily="18" charset="0"/>
                <a:cs typeface="Times New Roman" panose="02020603050405020304" pitchFamily="18" charset="0"/>
              </a:rPr>
            </a:br>
            <a:endParaRPr lang="en-US" sz="1600" dirty="0">
              <a:solidFill>
                <a:srgbClr val="0B131B"/>
              </a:solidFill>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q"/>
            </a:pPr>
            <a:r>
              <a:rPr lang="en-US" sz="1600" dirty="0">
                <a:solidFill>
                  <a:srgbClr val="0B131B"/>
                </a:solidFill>
                <a:latin typeface="Times New Roman" panose="02020603050405020304" pitchFamily="18" charset="0"/>
                <a:cs typeface="Times New Roman" panose="02020603050405020304" pitchFamily="18" charset="0"/>
              </a:rPr>
              <a:t>Enhance Explainable AI techniques to support doctors in clinical decision-making.</a:t>
            </a:r>
            <a:endParaRPr lang="en-IN" sz="1600" dirty="0"/>
          </a:p>
        </p:txBody>
      </p:sp>
    </p:spTree>
    <p:extLst>
      <p:ext uri="{BB962C8B-B14F-4D97-AF65-F5344CB8AC3E}">
        <p14:creationId xmlns:p14="http://schemas.microsoft.com/office/powerpoint/2010/main" val="265934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76FD73D1-EBDB-0347-3CF1-509C7A7B6F31}"/>
            </a:ext>
          </a:extLst>
        </p:cNvPr>
        <p:cNvGrpSpPr/>
        <p:nvPr/>
      </p:nvGrpSpPr>
      <p:grpSpPr>
        <a:xfrm>
          <a:off x="0" y="0"/>
          <a:ext cx="0" cy="0"/>
          <a:chOff x="0" y="0"/>
          <a:chExt cx="0" cy="0"/>
        </a:xfrm>
      </p:grpSpPr>
      <p:pic>
        <p:nvPicPr>
          <p:cNvPr id="232" name="Google Shape;232;p31">
            <a:extLst>
              <a:ext uri="{FF2B5EF4-FFF2-40B4-BE49-F238E27FC236}">
                <a16:creationId xmlns:a16="http://schemas.microsoft.com/office/drawing/2014/main" id="{D7FBCAC7-151D-38F3-72BE-CAD82869D945}"/>
              </a:ext>
            </a:extLst>
          </p:cNvPr>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a:extLst>
              <a:ext uri="{FF2B5EF4-FFF2-40B4-BE49-F238E27FC236}">
                <a16:creationId xmlns:a16="http://schemas.microsoft.com/office/drawing/2014/main" id="{75C8A7DD-2AC1-1BE8-B5F6-960FD19D2A08}"/>
              </a:ext>
            </a:extLst>
          </p:cNvPr>
          <p:cNvSpPr txBox="1">
            <a:spLocks noGrp="1"/>
          </p:cNvSpPr>
          <p:nvPr>
            <p:ph type="title"/>
          </p:nvPr>
        </p:nvSpPr>
        <p:spPr>
          <a:xfrm>
            <a:off x="3779002" y="2196193"/>
            <a:ext cx="5131660" cy="1673678"/>
          </a:xfrm>
          <a:prstGeom prst="rect">
            <a:avLst/>
          </a:prstGeom>
        </p:spPr>
        <p:txBody>
          <a:bodyPr spcFirstLastPara="1" wrap="square" lIns="91425" tIns="91425" rIns="91425" bIns="91425" anchor="t" anchorCtr="0">
            <a:noAutofit/>
          </a:bodyPr>
          <a:lstStyle/>
          <a:p>
            <a:pPr lvl="0" algn="ctr"/>
            <a:r>
              <a:rPr lang="en-IN" sz="4800" spc="-10" dirty="0">
                <a:solidFill>
                  <a:srgbClr val="00B050"/>
                </a:solidFill>
                <a:latin typeface="Times New Roman" panose="02020603050405020304" pitchFamily="18" charset="0"/>
                <a:cs typeface="Times New Roman" panose="02020603050405020304" pitchFamily="18" charset="0"/>
              </a:rPr>
              <a:t>CONCLUSION</a:t>
            </a:r>
            <a:endParaRPr sz="4800" dirty="0">
              <a:solidFill>
                <a:srgbClr val="00B050"/>
              </a:solidFill>
              <a:latin typeface="Times New Roman" panose="02020603050405020304" pitchFamily="18" charset="0"/>
              <a:cs typeface="Times New Roman" panose="02020603050405020304" pitchFamily="18" charset="0"/>
            </a:endParaRPr>
          </a:p>
        </p:txBody>
      </p:sp>
      <p:sp>
        <p:nvSpPr>
          <p:cNvPr id="236" name="Google Shape;236;p31">
            <a:extLst>
              <a:ext uri="{FF2B5EF4-FFF2-40B4-BE49-F238E27FC236}">
                <a16:creationId xmlns:a16="http://schemas.microsoft.com/office/drawing/2014/main" id="{0F0D3505-EF07-D9A5-C001-B68D5D39D270}"/>
              </a:ext>
            </a:extLst>
          </p:cNvPr>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a:extLst>
              <a:ext uri="{FF2B5EF4-FFF2-40B4-BE49-F238E27FC236}">
                <a16:creationId xmlns:a16="http://schemas.microsoft.com/office/drawing/2014/main" id="{30C38712-C804-87D4-8658-08D982CFE1BF}"/>
              </a:ext>
            </a:extLst>
          </p:cNvPr>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a:extLst>
              <a:ext uri="{FF2B5EF4-FFF2-40B4-BE49-F238E27FC236}">
                <a16:creationId xmlns:a16="http://schemas.microsoft.com/office/drawing/2014/main" id="{BF98C628-53F2-080C-263E-BB3B2039C672}"/>
              </a:ext>
            </a:extLst>
          </p:cNvPr>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a:extLst>
              <a:ext uri="{FF2B5EF4-FFF2-40B4-BE49-F238E27FC236}">
                <a16:creationId xmlns:a16="http://schemas.microsoft.com/office/drawing/2014/main" id="{A8405138-6BB0-9FDD-8CCA-2ECDD7819DC9}"/>
              </a:ext>
            </a:extLst>
          </p:cNvPr>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a:extLst>
              <a:ext uri="{FF2B5EF4-FFF2-40B4-BE49-F238E27FC236}">
                <a16:creationId xmlns:a16="http://schemas.microsoft.com/office/drawing/2014/main" id="{968C9F7A-2D6C-16A9-7B78-1350CA24FBBC}"/>
              </a:ext>
            </a:extLst>
          </p:cNvPr>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extLst>
      <p:ext uri="{BB962C8B-B14F-4D97-AF65-F5344CB8AC3E}">
        <p14:creationId xmlns:p14="http://schemas.microsoft.com/office/powerpoint/2010/main" val="30232523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BC7DBE8C-96BC-40CE-5511-B4F7A2D2E514}"/>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6C6711AC-FFDD-7E3B-F2FE-556D286539F1}"/>
              </a:ext>
            </a:extLst>
          </p:cNvPr>
          <p:cNvSpPr>
            <a:spLocks noGrp="1"/>
          </p:cNvSpPr>
          <p:nvPr>
            <p:ph type="body" idx="1"/>
          </p:nvPr>
        </p:nvSpPr>
        <p:spPr>
          <a:xfrm>
            <a:off x="722375" y="474133"/>
            <a:ext cx="8150692" cy="4478867"/>
          </a:xfrm>
        </p:spPr>
        <p:txBody>
          <a:bodyPr/>
          <a:lstStyle/>
          <a:p>
            <a:pPr marL="152400" indent="0" algn="just">
              <a:lnSpc>
                <a:spcPct val="200000"/>
              </a:lnSpc>
              <a:buNone/>
            </a:pPr>
            <a:r>
              <a:rPr lang="en-US" sz="1600" dirty="0">
                <a:solidFill>
                  <a:srgbClr val="0B131B"/>
                </a:solidFill>
                <a:latin typeface="Times New Roman" panose="02020603050405020304" pitchFamily="18" charset="0"/>
                <a:cs typeface="Times New Roman" panose="02020603050405020304" pitchFamily="18" charset="0"/>
              </a:rPr>
              <a:t>In This We successfully implemented machine learning techniques for thyroid disease prediction using the thyroid disease dataset. Different algorithms such as Random Forest, SVC, AdaBoost, Extra Trees, and </a:t>
            </a:r>
            <a:r>
              <a:rPr lang="en-US" sz="1600" dirty="0" err="1">
                <a:solidFill>
                  <a:srgbClr val="0B131B"/>
                </a:solidFill>
                <a:latin typeface="Times New Roman" panose="02020603050405020304" pitchFamily="18" charset="0"/>
                <a:cs typeface="Times New Roman" panose="02020603050405020304" pitchFamily="18" charset="0"/>
              </a:rPr>
              <a:t>CatBoost</a:t>
            </a:r>
            <a:r>
              <a:rPr lang="en-US" sz="1600" dirty="0">
                <a:solidFill>
                  <a:srgbClr val="0B131B"/>
                </a:solidFill>
                <a:latin typeface="Times New Roman" panose="02020603050405020304" pitchFamily="18" charset="0"/>
                <a:cs typeface="Times New Roman" panose="02020603050405020304" pitchFamily="18" charset="0"/>
              </a:rPr>
              <a:t> were applied and evaluated using multiple performance metrics. Random Forest achieved the highest prediction accuracy, while </a:t>
            </a:r>
            <a:r>
              <a:rPr lang="en-US" sz="1600" dirty="0" err="1">
                <a:solidFill>
                  <a:srgbClr val="0B131B"/>
                </a:solidFill>
                <a:latin typeface="Times New Roman" panose="02020603050405020304" pitchFamily="18" charset="0"/>
                <a:cs typeface="Times New Roman" panose="02020603050405020304" pitchFamily="18" charset="0"/>
              </a:rPr>
              <a:t>CatBoost</a:t>
            </a:r>
            <a:r>
              <a:rPr lang="en-US" sz="1600" dirty="0">
                <a:solidFill>
                  <a:srgbClr val="0B131B"/>
                </a:solidFill>
                <a:latin typeface="Times New Roman" panose="02020603050405020304" pitchFamily="18" charset="0"/>
                <a:cs typeface="Times New Roman" panose="02020603050405020304" pitchFamily="18" charset="0"/>
              </a:rPr>
              <a:t> also produced nearly similar and highly accurate results. Data preprocessing and feature selection improved the overall efficiency of the system. SHAP Explainable AI was used to identify the importance of medical features such as TSH and FTI in prediction. The proposed system provides accurate, reliable, and faster thyroid disease prediction, which can assist healthcare professionals in early diagnosis and effective clinical decision-making.</a:t>
            </a:r>
            <a:endParaRPr lang="en-IN" sz="1600" dirty="0">
              <a:solidFill>
                <a:srgbClr val="0B131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029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3A32C9D9-400A-175F-E239-A43BCC515570}"/>
            </a:ext>
          </a:extLst>
        </p:cNvPr>
        <p:cNvGrpSpPr/>
        <p:nvPr/>
      </p:nvGrpSpPr>
      <p:grpSpPr>
        <a:xfrm>
          <a:off x="0" y="0"/>
          <a:ext cx="0" cy="0"/>
          <a:chOff x="0" y="0"/>
          <a:chExt cx="0" cy="0"/>
        </a:xfrm>
      </p:grpSpPr>
      <p:pic>
        <p:nvPicPr>
          <p:cNvPr id="232" name="Google Shape;232;p31">
            <a:extLst>
              <a:ext uri="{FF2B5EF4-FFF2-40B4-BE49-F238E27FC236}">
                <a16:creationId xmlns:a16="http://schemas.microsoft.com/office/drawing/2014/main" id="{FBAB5DE0-9F1B-A2F8-FF2D-AC205090046C}"/>
              </a:ext>
            </a:extLst>
          </p:cNvPr>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a:extLst>
              <a:ext uri="{FF2B5EF4-FFF2-40B4-BE49-F238E27FC236}">
                <a16:creationId xmlns:a16="http://schemas.microsoft.com/office/drawing/2014/main" id="{4D63F6C6-77C5-CEC1-D7E6-5317478A8910}"/>
              </a:ext>
            </a:extLst>
          </p:cNvPr>
          <p:cNvSpPr txBox="1">
            <a:spLocks noGrp="1"/>
          </p:cNvSpPr>
          <p:nvPr>
            <p:ph type="title"/>
          </p:nvPr>
        </p:nvSpPr>
        <p:spPr>
          <a:xfrm>
            <a:off x="3779002" y="2196192"/>
            <a:ext cx="5250698" cy="1738993"/>
          </a:xfrm>
          <a:prstGeom prst="rect">
            <a:avLst/>
          </a:prstGeom>
        </p:spPr>
        <p:txBody>
          <a:bodyPr spcFirstLastPara="1" wrap="square" lIns="91425" tIns="91425" rIns="91425" bIns="91425" anchor="t" anchorCtr="0">
            <a:noAutofit/>
          </a:bodyPr>
          <a:lstStyle/>
          <a:p>
            <a:pPr lvl="0" algn="ctr"/>
            <a:r>
              <a:rPr lang="en-IN" sz="4800" spc="-10" dirty="0">
                <a:solidFill>
                  <a:srgbClr val="00B050"/>
                </a:solidFill>
                <a:latin typeface="Times New Roman" panose="02020603050405020304" pitchFamily="18" charset="0"/>
                <a:cs typeface="Times New Roman" panose="02020603050405020304" pitchFamily="18" charset="0"/>
              </a:rPr>
              <a:t>REFERENCES</a:t>
            </a:r>
            <a:endParaRPr sz="4800" dirty="0">
              <a:solidFill>
                <a:srgbClr val="00B050"/>
              </a:solidFill>
              <a:latin typeface="Times New Roman" panose="02020603050405020304" pitchFamily="18" charset="0"/>
              <a:cs typeface="Times New Roman" panose="02020603050405020304" pitchFamily="18" charset="0"/>
            </a:endParaRPr>
          </a:p>
        </p:txBody>
      </p:sp>
      <p:sp>
        <p:nvSpPr>
          <p:cNvPr id="236" name="Google Shape;236;p31">
            <a:extLst>
              <a:ext uri="{FF2B5EF4-FFF2-40B4-BE49-F238E27FC236}">
                <a16:creationId xmlns:a16="http://schemas.microsoft.com/office/drawing/2014/main" id="{1C31FE17-130D-9CFE-C55F-C3C466E024D5}"/>
              </a:ext>
            </a:extLst>
          </p:cNvPr>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a:extLst>
              <a:ext uri="{FF2B5EF4-FFF2-40B4-BE49-F238E27FC236}">
                <a16:creationId xmlns:a16="http://schemas.microsoft.com/office/drawing/2014/main" id="{A8F144CB-E638-F6FB-D9B6-54600EEB6D4A}"/>
              </a:ext>
            </a:extLst>
          </p:cNvPr>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a:extLst>
              <a:ext uri="{FF2B5EF4-FFF2-40B4-BE49-F238E27FC236}">
                <a16:creationId xmlns:a16="http://schemas.microsoft.com/office/drawing/2014/main" id="{805E80B9-6D6B-3E2E-A460-2A992EA86E14}"/>
              </a:ext>
            </a:extLst>
          </p:cNvPr>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a:extLst>
              <a:ext uri="{FF2B5EF4-FFF2-40B4-BE49-F238E27FC236}">
                <a16:creationId xmlns:a16="http://schemas.microsoft.com/office/drawing/2014/main" id="{484B7F76-3B5F-EDB4-9C54-F03B99990D60}"/>
              </a:ext>
            </a:extLst>
          </p:cNvPr>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a:extLst>
              <a:ext uri="{FF2B5EF4-FFF2-40B4-BE49-F238E27FC236}">
                <a16:creationId xmlns:a16="http://schemas.microsoft.com/office/drawing/2014/main" id="{0CAAE4F6-0C76-F518-5D6C-5D4FEF08E385}"/>
              </a:ext>
            </a:extLst>
          </p:cNvPr>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extLst>
      <p:ext uri="{BB962C8B-B14F-4D97-AF65-F5344CB8AC3E}">
        <p14:creationId xmlns:p14="http://schemas.microsoft.com/office/powerpoint/2010/main" val="2567622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E1067DB0-62FD-3E6F-42D4-1982C26EA3C5}"/>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4D871128-470B-F244-9099-9444C2357A96}"/>
              </a:ext>
            </a:extLst>
          </p:cNvPr>
          <p:cNvSpPr>
            <a:spLocks noGrp="1"/>
          </p:cNvSpPr>
          <p:nvPr>
            <p:ph type="body" idx="1"/>
          </p:nvPr>
        </p:nvSpPr>
        <p:spPr>
          <a:xfrm>
            <a:off x="457200" y="135467"/>
            <a:ext cx="8509000" cy="4521200"/>
          </a:xfrm>
        </p:spPr>
        <p:txBody>
          <a:bodyPr/>
          <a:lstStyle/>
          <a:p>
            <a:pPr marL="495300" indent="-342900" algn="just">
              <a:lnSpc>
                <a:spcPct val="200000"/>
              </a:lnSpc>
              <a:buFont typeface="+mj-lt"/>
              <a:buAutoNum type="arabicPeriod"/>
            </a:pPr>
            <a:r>
              <a:rPr lang="en-IN" sz="1800" dirty="0">
                <a:solidFill>
                  <a:srgbClr val="0B131B"/>
                </a:solidFill>
                <a:latin typeface="Times New Roman" panose="02020603050405020304" pitchFamily="18" charset="0"/>
                <a:cs typeface="Times New Roman" panose="02020603050405020304" pitchFamily="18" charset="0"/>
              </a:rPr>
              <a:t>R. Chaganti, F. Rustam, I. De La Torre Díez, et al., “Thyroid disease prediction using selective features and machine learning techniques,” </a:t>
            </a:r>
            <a:r>
              <a:rPr lang="en-IN" sz="1800" i="1" dirty="0">
                <a:solidFill>
                  <a:srgbClr val="0B131B"/>
                </a:solidFill>
                <a:latin typeface="Times New Roman" panose="02020603050405020304" pitchFamily="18" charset="0"/>
                <a:cs typeface="Times New Roman" panose="02020603050405020304" pitchFamily="18" charset="0"/>
              </a:rPr>
              <a:t>Cancers</a:t>
            </a:r>
            <a:r>
              <a:rPr lang="en-IN" sz="1800" dirty="0">
                <a:solidFill>
                  <a:srgbClr val="0B131B"/>
                </a:solidFill>
                <a:latin typeface="Times New Roman" panose="02020603050405020304" pitchFamily="18" charset="0"/>
                <a:cs typeface="Times New Roman" panose="02020603050405020304" pitchFamily="18" charset="0"/>
              </a:rPr>
              <a:t>, vol. 14, no. 16, p. 3914, 2022. </a:t>
            </a:r>
          </a:p>
          <a:p>
            <a:pPr marL="495300" indent="-342900" algn="just">
              <a:lnSpc>
                <a:spcPct val="200000"/>
              </a:lnSpc>
              <a:buFont typeface="+mj-lt"/>
              <a:buAutoNum type="arabicPeriod"/>
            </a:pPr>
            <a:r>
              <a:rPr lang="en-IN" sz="1800" dirty="0">
                <a:solidFill>
                  <a:srgbClr val="0B131B"/>
                </a:solidFill>
                <a:latin typeface="Times New Roman" panose="02020603050405020304" pitchFamily="18" charset="0"/>
                <a:cs typeface="Times New Roman" panose="02020603050405020304" pitchFamily="18" charset="0"/>
              </a:rPr>
              <a:t>S. Duggal and R. Shukla, “Comparative analysis of machine learning classifiers for thyroid disease detection,” </a:t>
            </a:r>
            <a:r>
              <a:rPr lang="en-IN" sz="1800" i="1" dirty="0">
                <a:solidFill>
                  <a:srgbClr val="0B131B"/>
                </a:solidFill>
                <a:latin typeface="Times New Roman" panose="02020603050405020304" pitchFamily="18" charset="0"/>
                <a:cs typeface="Times New Roman" panose="02020603050405020304" pitchFamily="18" charset="0"/>
              </a:rPr>
              <a:t>Procedia Computer Science</a:t>
            </a:r>
            <a:r>
              <a:rPr lang="en-IN" sz="1800" dirty="0">
                <a:solidFill>
                  <a:srgbClr val="0B131B"/>
                </a:solidFill>
                <a:latin typeface="Times New Roman" panose="02020603050405020304" pitchFamily="18" charset="0"/>
                <a:cs typeface="Times New Roman" panose="02020603050405020304" pitchFamily="18" charset="0"/>
              </a:rPr>
              <a:t>, vol. 152, pp. 60–67, 2019.</a:t>
            </a:r>
          </a:p>
          <a:p>
            <a:pPr marL="495300" indent="-342900" algn="just">
              <a:lnSpc>
                <a:spcPct val="200000"/>
              </a:lnSpc>
              <a:buFont typeface="+mj-lt"/>
              <a:buAutoNum type="arabicPeriod"/>
            </a:pPr>
            <a:r>
              <a:rPr lang="en-IN" sz="1800" dirty="0">
                <a:solidFill>
                  <a:srgbClr val="0B131B"/>
                </a:solidFill>
                <a:latin typeface="Times New Roman" panose="02020603050405020304" pitchFamily="18" charset="0"/>
                <a:cs typeface="Times New Roman" panose="02020603050405020304" pitchFamily="18" charset="0"/>
              </a:rPr>
              <a:t> K. Salman and E. </a:t>
            </a:r>
            <a:r>
              <a:rPr lang="en-IN" sz="1800" dirty="0" err="1">
                <a:solidFill>
                  <a:srgbClr val="0B131B"/>
                </a:solidFill>
                <a:latin typeface="Times New Roman" panose="02020603050405020304" pitchFamily="18" charset="0"/>
                <a:cs typeface="Times New Roman" panose="02020603050405020304" pitchFamily="18" charset="0"/>
              </a:rPr>
              <a:t>Sonuç</a:t>
            </a:r>
            <a:r>
              <a:rPr lang="en-IN" sz="1800" dirty="0">
                <a:solidFill>
                  <a:srgbClr val="0B131B"/>
                </a:solidFill>
                <a:latin typeface="Times New Roman" panose="02020603050405020304" pitchFamily="18" charset="0"/>
                <a:cs typeface="Times New Roman" panose="02020603050405020304" pitchFamily="18" charset="0"/>
              </a:rPr>
              <a:t>, “Thyroid disease classification using machine learning algorithms,” </a:t>
            </a:r>
            <a:r>
              <a:rPr lang="en-IN" sz="1800" i="1" dirty="0">
                <a:solidFill>
                  <a:srgbClr val="0B131B"/>
                </a:solidFill>
                <a:latin typeface="Times New Roman" panose="02020603050405020304" pitchFamily="18" charset="0"/>
                <a:cs typeface="Times New Roman" panose="02020603050405020304" pitchFamily="18" charset="0"/>
              </a:rPr>
              <a:t>Journal of Physics: Conference Series</a:t>
            </a:r>
            <a:r>
              <a:rPr lang="en-IN" sz="1800" dirty="0">
                <a:solidFill>
                  <a:srgbClr val="0B131B"/>
                </a:solidFill>
                <a:latin typeface="Times New Roman" panose="02020603050405020304" pitchFamily="18" charset="0"/>
                <a:cs typeface="Times New Roman" panose="02020603050405020304" pitchFamily="18" charset="0"/>
              </a:rPr>
              <a:t>, vol. 1963, no. 1, p. 012140, 2021. </a:t>
            </a:r>
          </a:p>
        </p:txBody>
      </p:sp>
    </p:spTree>
    <p:extLst>
      <p:ext uri="{BB962C8B-B14F-4D97-AF65-F5344CB8AC3E}">
        <p14:creationId xmlns:p14="http://schemas.microsoft.com/office/powerpoint/2010/main" val="2341192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53">
          <a:extLst>
            <a:ext uri="{FF2B5EF4-FFF2-40B4-BE49-F238E27FC236}">
              <a16:creationId xmlns:a16="http://schemas.microsoft.com/office/drawing/2014/main" id="{7FC240DE-F4A6-F0EE-9869-22CAA629EEE9}"/>
            </a:ext>
          </a:extLst>
        </p:cNvPr>
        <p:cNvGrpSpPr/>
        <p:nvPr/>
      </p:nvGrpSpPr>
      <p:grpSpPr>
        <a:xfrm>
          <a:off x="0" y="0"/>
          <a:ext cx="0" cy="0"/>
          <a:chOff x="0" y="0"/>
          <a:chExt cx="0" cy="0"/>
        </a:xfrm>
      </p:grpSpPr>
      <p:sp>
        <p:nvSpPr>
          <p:cNvPr id="11" name="Text Placeholder 10">
            <a:extLst>
              <a:ext uri="{FF2B5EF4-FFF2-40B4-BE49-F238E27FC236}">
                <a16:creationId xmlns:a16="http://schemas.microsoft.com/office/drawing/2014/main" id="{25C7A8B6-0387-7878-2544-75CB08278F34}"/>
              </a:ext>
            </a:extLst>
          </p:cNvPr>
          <p:cNvSpPr>
            <a:spLocks noGrp="1"/>
          </p:cNvSpPr>
          <p:nvPr>
            <p:ph type="body" idx="1"/>
          </p:nvPr>
        </p:nvSpPr>
        <p:spPr>
          <a:xfrm>
            <a:off x="457200" y="135467"/>
            <a:ext cx="8509000" cy="4521200"/>
          </a:xfrm>
        </p:spPr>
        <p:txBody>
          <a:bodyPr/>
          <a:lstStyle/>
          <a:p>
            <a:pPr marL="495300" indent="-342900" algn="just">
              <a:lnSpc>
                <a:spcPct val="200000"/>
              </a:lnSpc>
              <a:buFont typeface="+mj-lt"/>
              <a:buAutoNum type="arabicPeriod"/>
            </a:pPr>
            <a:r>
              <a:rPr lang="en-IN" sz="1800" dirty="0">
                <a:solidFill>
                  <a:srgbClr val="0B131B"/>
                </a:solidFill>
                <a:latin typeface="Times New Roman" panose="02020603050405020304" pitchFamily="18" charset="0"/>
                <a:cs typeface="Times New Roman" panose="02020603050405020304" pitchFamily="18" charset="0"/>
              </a:rPr>
              <a:t>S. Sankar, A. Potti, G.N. Chandrika, et al., “Thyroid disease prediction using </a:t>
            </a:r>
            <a:r>
              <a:rPr lang="en-IN" sz="1800" dirty="0" err="1">
                <a:solidFill>
                  <a:srgbClr val="0B131B"/>
                </a:solidFill>
                <a:latin typeface="Times New Roman" panose="02020603050405020304" pitchFamily="18" charset="0"/>
                <a:cs typeface="Times New Roman" panose="02020603050405020304" pitchFamily="18" charset="0"/>
              </a:rPr>
              <a:t>XGBoost</a:t>
            </a:r>
            <a:r>
              <a:rPr lang="en-IN" sz="1800" dirty="0">
                <a:solidFill>
                  <a:srgbClr val="0B131B"/>
                </a:solidFill>
                <a:latin typeface="Times New Roman" panose="02020603050405020304" pitchFamily="18" charset="0"/>
                <a:cs typeface="Times New Roman" panose="02020603050405020304" pitchFamily="18" charset="0"/>
              </a:rPr>
              <a:t> algorithms,” </a:t>
            </a:r>
            <a:r>
              <a:rPr lang="en-IN" sz="1800" i="1" dirty="0">
                <a:solidFill>
                  <a:srgbClr val="0B131B"/>
                </a:solidFill>
                <a:latin typeface="Times New Roman" panose="02020603050405020304" pitchFamily="18" charset="0"/>
                <a:cs typeface="Times New Roman" panose="02020603050405020304" pitchFamily="18" charset="0"/>
              </a:rPr>
              <a:t>Journal of Mobile Multimedia</a:t>
            </a:r>
            <a:r>
              <a:rPr lang="en-IN" sz="1800" dirty="0">
                <a:solidFill>
                  <a:srgbClr val="0B131B"/>
                </a:solidFill>
                <a:latin typeface="Times New Roman" panose="02020603050405020304" pitchFamily="18" charset="0"/>
                <a:cs typeface="Times New Roman" panose="02020603050405020304" pitchFamily="18" charset="0"/>
              </a:rPr>
              <a:t>, vol. 18, no. 3, pp. 1–8, 2022.</a:t>
            </a:r>
          </a:p>
          <a:p>
            <a:pPr marL="495300" indent="-342900" algn="just">
              <a:lnSpc>
                <a:spcPct val="200000"/>
              </a:lnSpc>
              <a:buFont typeface="+mj-lt"/>
              <a:buAutoNum type="arabicPeriod"/>
            </a:pPr>
            <a:r>
              <a:rPr lang="en-IN" sz="1800" dirty="0">
                <a:solidFill>
                  <a:srgbClr val="0B131B"/>
                </a:solidFill>
                <a:latin typeface="Times New Roman" panose="02020603050405020304" pitchFamily="18" charset="0"/>
                <a:cs typeface="Times New Roman" panose="02020603050405020304" pitchFamily="18" charset="0"/>
              </a:rPr>
              <a:t> L. Aversano, M.L. Bernardi, M. </a:t>
            </a:r>
            <a:r>
              <a:rPr lang="en-IN" sz="1800" dirty="0" err="1">
                <a:solidFill>
                  <a:srgbClr val="0B131B"/>
                </a:solidFill>
                <a:latin typeface="Times New Roman" panose="02020603050405020304" pitchFamily="18" charset="0"/>
                <a:cs typeface="Times New Roman" panose="02020603050405020304" pitchFamily="18" charset="0"/>
              </a:rPr>
              <a:t>Cimitile</a:t>
            </a:r>
            <a:r>
              <a:rPr lang="en-IN" sz="1800" dirty="0">
                <a:solidFill>
                  <a:srgbClr val="0B131B"/>
                </a:solidFill>
                <a:latin typeface="Times New Roman" panose="02020603050405020304" pitchFamily="18" charset="0"/>
                <a:cs typeface="Times New Roman" panose="02020603050405020304" pitchFamily="18" charset="0"/>
              </a:rPr>
              <a:t>, et al., “Thyroid disease treatment prediction with machine learning approaches,” </a:t>
            </a:r>
            <a:r>
              <a:rPr lang="en-IN" sz="1800" i="1" dirty="0">
                <a:solidFill>
                  <a:srgbClr val="0B131B"/>
                </a:solidFill>
                <a:latin typeface="Times New Roman" panose="02020603050405020304" pitchFamily="18" charset="0"/>
                <a:cs typeface="Times New Roman" panose="02020603050405020304" pitchFamily="18" charset="0"/>
              </a:rPr>
              <a:t>Procedia Computer Science</a:t>
            </a:r>
            <a:r>
              <a:rPr lang="en-IN" sz="1800" dirty="0">
                <a:solidFill>
                  <a:srgbClr val="0B131B"/>
                </a:solidFill>
                <a:latin typeface="Times New Roman" panose="02020603050405020304" pitchFamily="18" charset="0"/>
                <a:cs typeface="Times New Roman" panose="02020603050405020304" pitchFamily="18" charset="0"/>
              </a:rPr>
              <a:t>, vol. 192, pp. 1031–1040, 2021.</a:t>
            </a:r>
          </a:p>
        </p:txBody>
      </p:sp>
    </p:spTree>
    <p:extLst>
      <p:ext uri="{BB962C8B-B14F-4D97-AF65-F5344CB8AC3E}">
        <p14:creationId xmlns:p14="http://schemas.microsoft.com/office/powerpoint/2010/main" val="3243827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31">
          <a:extLst>
            <a:ext uri="{FF2B5EF4-FFF2-40B4-BE49-F238E27FC236}">
              <a16:creationId xmlns:a16="http://schemas.microsoft.com/office/drawing/2014/main" id="{59402954-A91E-E223-1EE5-F3A299CBF2BA}"/>
            </a:ext>
          </a:extLst>
        </p:cNvPr>
        <p:cNvGrpSpPr/>
        <p:nvPr/>
      </p:nvGrpSpPr>
      <p:grpSpPr>
        <a:xfrm>
          <a:off x="0" y="0"/>
          <a:ext cx="0" cy="0"/>
          <a:chOff x="0" y="0"/>
          <a:chExt cx="0" cy="0"/>
        </a:xfrm>
      </p:grpSpPr>
      <p:pic>
        <p:nvPicPr>
          <p:cNvPr id="232" name="Google Shape;232;p31">
            <a:extLst>
              <a:ext uri="{FF2B5EF4-FFF2-40B4-BE49-F238E27FC236}">
                <a16:creationId xmlns:a16="http://schemas.microsoft.com/office/drawing/2014/main" id="{3CBC297C-BBC5-859C-3E86-7492AA781118}"/>
              </a:ext>
            </a:extLst>
          </p:cNvPr>
          <p:cNvPicPr preferRelativeResize="0"/>
          <p:nvPr/>
        </p:nvPicPr>
        <p:blipFill rotWithShape="1">
          <a:blip r:embed="rId3">
            <a:alphaModFix/>
          </a:blip>
          <a:srcRect l="-5115" t="-5115" r="-5115" b="-5115"/>
          <a:stretch/>
        </p:blipFill>
        <p:spPr>
          <a:xfrm>
            <a:off x="-53475" y="742950"/>
            <a:ext cx="3657600" cy="3657600"/>
          </a:xfrm>
          <a:prstGeom prst="diamond">
            <a:avLst/>
          </a:prstGeom>
          <a:noFill/>
          <a:ln>
            <a:noFill/>
          </a:ln>
        </p:spPr>
      </p:pic>
      <p:sp>
        <p:nvSpPr>
          <p:cNvPr id="234" name="Google Shape;234;p31">
            <a:extLst>
              <a:ext uri="{FF2B5EF4-FFF2-40B4-BE49-F238E27FC236}">
                <a16:creationId xmlns:a16="http://schemas.microsoft.com/office/drawing/2014/main" id="{B8EEBFE2-DC68-BEEC-3760-281A4378F18A}"/>
              </a:ext>
            </a:extLst>
          </p:cNvPr>
          <p:cNvSpPr txBox="1">
            <a:spLocks noGrp="1"/>
          </p:cNvSpPr>
          <p:nvPr>
            <p:ph type="title"/>
          </p:nvPr>
        </p:nvSpPr>
        <p:spPr>
          <a:xfrm>
            <a:off x="3943350" y="2400300"/>
            <a:ext cx="5086350" cy="1534885"/>
          </a:xfrm>
          <a:prstGeom prst="rect">
            <a:avLst/>
          </a:prstGeom>
        </p:spPr>
        <p:txBody>
          <a:bodyPr spcFirstLastPara="1" wrap="square" lIns="91425" tIns="91425" rIns="91425" bIns="91425" anchor="t" anchorCtr="0">
            <a:noAutofit/>
          </a:bodyPr>
          <a:lstStyle/>
          <a:p>
            <a:pPr lvl="0" algn="ctr"/>
            <a:r>
              <a:rPr lang="en-IN" sz="7200" spc="-10" dirty="0">
                <a:solidFill>
                  <a:srgbClr val="00B050"/>
                </a:solidFill>
                <a:latin typeface="Algerian" panose="04020705040A02060702" pitchFamily="82" charset="0"/>
                <a:cs typeface="Times New Roman" panose="02020603050405020304" pitchFamily="18" charset="0"/>
              </a:rPr>
              <a:t>THANKYOU</a:t>
            </a:r>
            <a:endParaRPr sz="7200" dirty="0">
              <a:solidFill>
                <a:srgbClr val="00B050"/>
              </a:solidFill>
              <a:latin typeface="Algerian" panose="04020705040A02060702" pitchFamily="82" charset="0"/>
              <a:cs typeface="Times New Roman" panose="02020603050405020304" pitchFamily="18" charset="0"/>
            </a:endParaRPr>
          </a:p>
        </p:txBody>
      </p:sp>
      <p:sp>
        <p:nvSpPr>
          <p:cNvPr id="236" name="Google Shape;236;p31">
            <a:extLst>
              <a:ext uri="{FF2B5EF4-FFF2-40B4-BE49-F238E27FC236}">
                <a16:creationId xmlns:a16="http://schemas.microsoft.com/office/drawing/2014/main" id="{BF6897A2-B0A2-0A25-9794-3FEBA7BF4375}"/>
              </a:ext>
            </a:extLst>
          </p:cNvPr>
          <p:cNvSpPr/>
          <p:nvPr/>
        </p:nvSpPr>
        <p:spPr>
          <a:xfrm rot="2700000">
            <a:off x="-1411408" y="-1741203"/>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7" name="Google Shape;237;p31">
            <a:extLst>
              <a:ext uri="{FF2B5EF4-FFF2-40B4-BE49-F238E27FC236}">
                <a16:creationId xmlns:a16="http://schemas.microsoft.com/office/drawing/2014/main" id="{33B4A1A3-D284-76CC-8436-F20E934886CE}"/>
              </a:ext>
            </a:extLst>
          </p:cNvPr>
          <p:cNvSpPr/>
          <p:nvPr/>
        </p:nvSpPr>
        <p:spPr>
          <a:xfrm rot="2700000">
            <a:off x="2423266" y="-1741203"/>
            <a:ext cx="2711472" cy="2711472"/>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8" name="Google Shape;238;p31">
            <a:extLst>
              <a:ext uri="{FF2B5EF4-FFF2-40B4-BE49-F238E27FC236}">
                <a16:creationId xmlns:a16="http://schemas.microsoft.com/office/drawing/2014/main" id="{36661FAA-33DD-BE2D-057B-181DCF084E29}"/>
              </a:ext>
            </a:extLst>
          </p:cNvPr>
          <p:cNvSpPr/>
          <p:nvPr/>
        </p:nvSpPr>
        <p:spPr>
          <a:xfrm rot="2700000">
            <a:off x="-1411408" y="4173214"/>
            <a:ext cx="2711472" cy="2711472"/>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39" name="Google Shape;239;p31">
            <a:extLst>
              <a:ext uri="{FF2B5EF4-FFF2-40B4-BE49-F238E27FC236}">
                <a16:creationId xmlns:a16="http://schemas.microsoft.com/office/drawing/2014/main" id="{3D3EB578-52E4-812A-2FEB-FCC87F27521F}"/>
              </a:ext>
            </a:extLst>
          </p:cNvPr>
          <p:cNvSpPr/>
          <p:nvPr/>
        </p:nvSpPr>
        <p:spPr>
          <a:xfrm rot="2700000">
            <a:off x="7065892" y="-1912728"/>
            <a:ext cx="2711472" cy="2711472"/>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
        <p:nvSpPr>
          <p:cNvPr id="240" name="Google Shape;240;p31">
            <a:extLst>
              <a:ext uri="{FF2B5EF4-FFF2-40B4-BE49-F238E27FC236}">
                <a16:creationId xmlns:a16="http://schemas.microsoft.com/office/drawing/2014/main" id="{096676B6-7301-B5E1-9399-6452C437E3F5}"/>
              </a:ext>
            </a:extLst>
          </p:cNvPr>
          <p:cNvSpPr/>
          <p:nvPr/>
        </p:nvSpPr>
        <p:spPr>
          <a:xfrm rot="2700000">
            <a:off x="2423267" y="4173214"/>
            <a:ext cx="2711472" cy="2711472"/>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omfortaa"/>
              <a:ea typeface="Comfortaa"/>
              <a:cs typeface="Comfortaa"/>
              <a:sym typeface="Comfortaa"/>
            </a:endParaRPr>
          </a:p>
        </p:txBody>
      </p:sp>
    </p:spTree>
    <p:extLst>
      <p:ext uri="{BB962C8B-B14F-4D97-AF65-F5344CB8AC3E}">
        <p14:creationId xmlns:p14="http://schemas.microsoft.com/office/powerpoint/2010/main" val="2886518424"/>
      </p:ext>
    </p:extLst>
  </p:cSld>
  <p:clrMapOvr>
    <a:masterClrMapping/>
  </p:clrMapOvr>
</p:sld>
</file>

<file path=ppt/theme/theme1.xml><?xml version="1.0" encoding="utf-8"?>
<a:theme xmlns:a="http://schemas.openxmlformats.org/drawingml/2006/main" name="Thyroid Inflammation: Thyroiditis by Slidesgo">
  <a:themeElements>
    <a:clrScheme name="Simple Light">
      <a:dk1>
        <a:srgbClr val="25425B"/>
      </a:dk1>
      <a:lt1>
        <a:srgbClr val="FFFFFF"/>
      </a:lt1>
      <a:dk2>
        <a:srgbClr val="BD7064"/>
      </a:dk2>
      <a:lt2>
        <a:srgbClr val="729BC0"/>
      </a:lt2>
      <a:accent1>
        <a:srgbClr val="9C4A3D"/>
      </a:accent1>
      <a:accent2>
        <a:srgbClr val="FFFFFF"/>
      </a:accent2>
      <a:accent3>
        <a:srgbClr val="FFFFFF"/>
      </a:accent3>
      <a:accent4>
        <a:srgbClr val="FFFFFF"/>
      </a:accent4>
      <a:accent5>
        <a:srgbClr val="FFFFFF"/>
      </a:accent5>
      <a:accent6>
        <a:srgbClr val="FFFFFF"/>
      </a:accent6>
      <a:hlink>
        <a:srgbClr val="25425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416</TotalTime>
  <Words>1518</Words>
  <Application>Microsoft Office PowerPoint</Application>
  <PresentationFormat>On-screen Show (16:9)</PresentationFormat>
  <Paragraphs>187</Paragraphs>
  <Slides>54</Slides>
  <Notes>41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Wingdings</vt:lpstr>
      <vt:lpstr>Abel</vt:lpstr>
      <vt:lpstr>Arial</vt:lpstr>
      <vt:lpstr>Comfortaa</vt:lpstr>
      <vt:lpstr>Arial MT</vt:lpstr>
      <vt:lpstr>Algerian</vt:lpstr>
      <vt:lpstr>Times New Roman</vt:lpstr>
      <vt:lpstr>Thyroid Inflammation: Thyroiditis by Slidesgo</vt:lpstr>
      <vt:lpstr>Enhancing Thyroid Disease Diagnosis with Machine Learning and Counterfactual Explainable AI</vt:lpstr>
      <vt:lpstr>Contents </vt:lpstr>
      <vt:lpstr>ABSTRACT</vt:lpstr>
      <vt:lpstr>PowerPoint Presentation</vt:lpstr>
      <vt:lpstr>INTRODUCTION</vt:lpstr>
      <vt:lpstr>PowerPoint Presentation</vt:lpstr>
      <vt:lpstr>LITERATURE SURVEY – 1</vt:lpstr>
      <vt:lpstr>PowerPoint Presentation</vt:lpstr>
      <vt:lpstr>LITERATURE SURVEY – 2</vt:lpstr>
      <vt:lpstr>PowerPoint Presentation</vt:lpstr>
      <vt:lpstr>LITERATURE SURVEY – 3</vt:lpstr>
      <vt:lpstr>PowerPoint Presentation</vt:lpstr>
      <vt:lpstr>EXISTING SYSTEM</vt:lpstr>
      <vt:lpstr>PowerPoint Presentation</vt:lpstr>
      <vt:lpstr>PowerPoint Presentation</vt:lpstr>
      <vt:lpstr>PROPOSED SYSTEM</vt:lpstr>
      <vt:lpstr>PowerPoint Presentation</vt:lpstr>
      <vt:lpstr>PowerPoint Presentation</vt:lpstr>
      <vt:lpstr>SYSTEM REQUIREMENTS</vt:lpstr>
      <vt:lpstr>PowerPoint Presentation</vt:lpstr>
      <vt:lpstr>SYSTEM ARCHITECHTURE</vt:lpstr>
      <vt:lpstr>PowerPoint Presentation</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VISUALIZATION</vt:lpstr>
      <vt:lpstr>PowerPoint Presentation</vt:lpstr>
      <vt:lpstr>PowerPoint Presentation</vt:lpstr>
      <vt:lpstr>PowerPoint Presentation</vt:lpstr>
      <vt:lpstr>PowerPoint Presentation</vt:lpstr>
      <vt:lpstr>UML DIAGRAMS</vt:lpstr>
      <vt:lpstr>USE CASE DIAGRAM</vt:lpstr>
      <vt:lpstr>CLASS  DIAGRAM</vt:lpstr>
      <vt:lpstr>SEQUENCE  DIAGRAM</vt:lpstr>
      <vt:lpstr>ACTIVITY  DIAGRAM</vt:lpstr>
      <vt:lpstr>FUTURE SCOPE</vt:lpstr>
      <vt:lpstr>PowerPoint Presentation</vt:lpstr>
      <vt:lpstr>CONCLUSION</vt:lpstr>
      <vt:lpstr>PowerPoint Presentation</vt:lpstr>
      <vt:lpstr>REFERENCES</vt:lpstr>
      <vt:lpstr>PowerPoint Presentation</vt:lpstr>
      <vt:lpstr>PowerPoint Presentation</vt:lpstr>
      <vt:lpstr>THANKYOU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vinay kumar</dc:creator>
  <cp:lastModifiedBy>vinay kumar</cp:lastModifiedBy>
  <cp:revision>3</cp:revision>
  <dcterms:modified xsi:type="dcterms:W3CDTF">2026-05-20T07:46:52Z</dcterms:modified>
</cp:coreProperties>
</file>